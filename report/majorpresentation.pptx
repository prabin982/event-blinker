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Calibri (MS)" charset="1" panose="020F0502020204030204"/>
      <p:regular r:id="rId30"/>
    </p:embeddedFont>
    <p:embeddedFont>
      <p:font typeface="Calibri (MS) Bold" charset="1" panose="020F070203040403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47146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55962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466885" y="4436000"/>
            <a:ext cx="17061053" cy="1828895"/>
            <a:chOff x="0" y="0"/>
            <a:chExt cx="22748070" cy="243852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6159902" y="0"/>
              <a:ext cx="16588168" cy="2438527"/>
              <a:chOff x="0" y="0"/>
              <a:chExt cx="3276675" cy="48168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276675" cy="481684"/>
              </a:xfrm>
              <a:custGeom>
                <a:avLst/>
                <a:gdLst/>
                <a:ahLst/>
                <a:cxnLst/>
                <a:rect r="r" b="b" t="t" l="l"/>
                <a:pathLst>
                  <a:path h="481684" w="3276675">
                    <a:moveTo>
                      <a:pt x="31114" y="0"/>
                    </a:moveTo>
                    <a:lnTo>
                      <a:pt x="3245561" y="0"/>
                    </a:lnTo>
                    <a:cubicBezTo>
                      <a:pt x="3253813" y="0"/>
                      <a:pt x="3261727" y="3278"/>
                      <a:pt x="3267562" y="9113"/>
                    </a:cubicBezTo>
                    <a:cubicBezTo>
                      <a:pt x="3273397" y="14948"/>
                      <a:pt x="3276675" y="22862"/>
                      <a:pt x="3276675" y="31114"/>
                    </a:cubicBezTo>
                    <a:lnTo>
                      <a:pt x="3276675" y="450570"/>
                    </a:lnTo>
                    <a:cubicBezTo>
                      <a:pt x="3276675" y="458822"/>
                      <a:pt x="3273397" y="466736"/>
                      <a:pt x="3267562" y="472571"/>
                    </a:cubicBezTo>
                    <a:cubicBezTo>
                      <a:pt x="3261727" y="478406"/>
                      <a:pt x="3253813" y="481684"/>
                      <a:pt x="3245561" y="481684"/>
                    </a:cubicBezTo>
                    <a:lnTo>
                      <a:pt x="31114" y="481684"/>
                    </a:lnTo>
                    <a:cubicBezTo>
                      <a:pt x="13930" y="481684"/>
                      <a:pt x="0" y="467754"/>
                      <a:pt x="0" y="450570"/>
                    </a:cubicBezTo>
                    <a:lnTo>
                      <a:pt x="0" y="31114"/>
                    </a:lnTo>
                    <a:cubicBezTo>
                      <a:pt x="0" y="22862"/>
                      <a:pt x="3278" y="14948"/>
                      <a:pt x="9113" y="9113"/>
                    </a:cubicBezTo>
                    <a:cubicBezTo>
                      <a:pt x="14948" y="3278"/>
                      <a:pt x="22862" y="0"/>
                      <a:pt x="31114" y="0"/>
                    </a:cubicBezTo>
                    <a:close/>
                  </a:path>
                </a:pathLst>
              </a:custGeom>
              <a:solidFill>
                <a:srgbClr val="8BDFD5"/>
              </a:solidFill>
              <a:ln w="19050" cap="rnd">
                <a:solidFill>
                  <a:srgbClr val="4C7D77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3276675" cy="4816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9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115198"/>
              <a:ext cx="21184472" cy="1620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18"/>
                </a:lnSpc>
              </a:pPr>
              <a:r>
                <a:rPr lang="en-US" sz="7112" spc="14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Event-Blinker-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983052" y="7845424"/>
            <a:ext cx="7050248" cy="141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>
                <a:solidFill>
                  <a:srgbClr val="003730"/>
                </a:solidFill>
                <a:latin typeface="Calibri (MS)"/>
                <a:ea typeface="Calibri (MS)"/>
                <a:cs typeface="Calibri (MS)"/>
                <a:sym typeface="Calibri (MS)"/>
              </a:rPr>
              <a:t>Manish Adhikari         (PUL078BEI019)</a:t>
            </a:r>
          </a:p>
          <a:p>
            <a:pPr algn="l">
              <a:lnSpc>
                <a:spcPts val="3500"/>
              </a:lnSpc>
            </a:pPr>
            <a:r>
              <a:rPr lang="en-US" sz="3500">
                <a:solidFill>
                  <a:srgbClr val="003730"/>
                </a:solidFill>
                <a:latin typeface="Calibri (MS)"/>
                <a:ea typeface="Calibri (MS)"/>
                <a:cs typeface="Calibri (MS)"/>
                <a:sym typeface="Calibri (MS)"/>
              </a:rPr>
              <a:t>Nandani Sah                (PUL078BEI023)</a:t>
            </a:r>
          </a:p>
          <a:p>
            <a:pPr algn="l">
              <a:lnSpc>
                <a:spcPts val="3500"/>
              </a:lnSpc>
            </a:pPr>
            <a:r>
              <a:rPr lang="en-US" sz="3500">
                <a:solidFill>
                  <a:srgbClr val="003730"/>
                </a:solidFill>
                <a:latin typeface="Calibri (MS)"/>
                <a:ea typeface="Calibri (MS)"/>
                <a:cs typeface="Calibri (MS)"/>
                <a:sym typeface="Calibri (MS)"/>
              </a:rPr>
              <a:t>Prabin Raj Dhungana (PUL078BEI026)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408713" y="452914"/>
            <a:ext cx="7725275" cy="2191105"/>
            <a:chOff x="0" y="0"/>
            <a:chExt cx="10300366" cy="29214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1474" cy="2921474"/>
            </a:xfrm>
            <a:custGeom>
              <a:avLst/>
              <a:gdLst/>
              <a:ahLst/>
              <a:cxnLst/>
              <a:rect r="r" b="b" t="t" l="l"/>
              <a:pathLst>
                <a:path h="2921474" w="2921474">
                  <a:moveTo>
                    <a:pt x="0" y="0"/>
                  </a:moveTo>
                  <a:lnTo>
                    <a:pt x="2921474" y="0"/>
                  </a:lnTo>
                  <a:lnTo>
                    <a:pt x="2921474" y="2921474"/>
                  </a:lnTo>
                  <a:lnTo>
                    <a:pt x="0" y="2921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921474" y="687731"/>
              <a:ext cx="7378892" cy="1546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9"/>
                </a:lnSpc>
              </a:pPr>
              <a:r>
                <a:rPr lang="en-US" sz="2899" b="true">
                  <a:solidFill>
                    <a:srgbClr val="003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TRIBHUVAN UNIVERSITY</a:t>
              </a:r>
            </a:p>
            <a:p>
              <a:pPr algn="l">
                <a:lnSpc>
                  <a:spcPts val="2899"/>
                </a:lnSpc>
              </a:pPr>
              <a:r>
                <a:rPr lang="en-US" sz="2899" b="true">
                  <a:solidFill>
                    <a:srgbClr val="003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INSTITUE OF ENGINEERING</a:t>
              </a:r>
            </a:p>
            <a:p>
              <a:pPr algn="l">
                <a:lnSpc>
                  <a:spcPts val="289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003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PULCHOWK ENGINEERING CAMPUS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501107" y="5544495"/>
            <a:ext cx="9093060" cy="63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2"/>
              </a:lnSpc>
              <a:spcBef>
                <a:spcPct val="0"/>
              </a:spcBef>
            </a:pPr>
            <a:r>
              <a:rPr lang="en-US" b="true" sz="413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EMPHASIZES REAL-TIME UPDATES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47146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55962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54565" y="1683922"/>
            <a:ext cx="13690641" cy="6919156"/>
            <a:chOff x="0" y="0"/>
            <a:chExt cx="3605765" cy="18223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05766" cy="1822329"/>
            </a:xfrm>
            <a:custGeom>
              <a:avLst/>
              <a:gdLst/>
              <a:ahLst/>
              <a:cxnLst/>
              <a:rect r="r" b="b" t="t" l="l"/>
              <a:pathLst>
                <a:path h="1822329" w="3605766">
                  <a:moveTo>
                    <a:pt x="16965" y="0"/>
                  </a:moveTo>
                  <a:lnTo>
                    <a:pt x="3588801" y="0"/>
                  </a:lnTo>
                  <a:cubicBezTo>
                    <a:pt x="3598170" y="0"/>
                    <a:pt x="3605766" y="7595"/>
                    <a:pt x="3605766" y="16965"/>
                  </a:cubicBezTo>
                  <a:lnTo>
                    <a:pt x="3605766" y="1805365"/>
                  </a:lnTo>
                  <a:cubicBezTo>
                    <a:pt x="3605766" y="1809864"/>
                    <a:pt x="3603978" y="1814179"/>
                    <a:pt x="3600797" y="1817360"/>
                  </a:cubicBezTo>
                  <a:cubicBezTo>
                    <a:pt x="3597615" y="1820542"/>
                    <a:pt x="3593300" y="1822329"/>
                    <a:pt x="3588801" y="1822329"/>
                  </a:cubicBezTo>
                  <a:lnTo>
                    <a:pt x="16965" y="1822329"/>
                  </a:lnTo>
                  <a:cubicBezTo>
                    <a:pt x="12465" y="1822329"/>
                    <a:pt x="8150" y="1820542"/>
                    <a:pt x="4969" y="1817360"/>
                  </a:cubicBezTo>
                  <a:cubicBezTo>
                    <a:pt x="1787" y="1814179"/>
                    <a:pt x="0" y="1809864"/>
                    <a:pt x="0" y="1805365"/>
                  </a:cubicBezTo>
                  <a:lnTo>
                    <a:pt x="0" y="16965"/>
                  </a:lnTo>
                  <a:cubicBezTo>
                    <a:pt x="0" y="12465"/>
                    <a:pt x="1787" y="8150"/>
                    <a:pt x="4969" y="4969"/>
                  </a:cubicBezTo>
                  <a:cubicBezTo>
                    <a:pt x="8150" y="1787"/>
                    <a:pt x="12465" y="0"/>
                    <a:pt x="16965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605765" cy="1822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72212" y="1250097"/>
            <a:ext cx="5305733" cy="790514"/>
            <a:chOff x="0" y="0"/>
            <a:chExt cx="1397395" cy="208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7395" cy="208201"/>
            </a:xfrm>
            <a:custGeom>
              <a:avLst/>
              <a:gdLst/>
              <a:ahLst/>
              <a:cxnLst/>
              <a:rect r="r" b="b" t="t" l="l"/>
              <a:pathLst>
                <a:path h="208201" w="1397395">
                  <a:moveTo>
                    <a:pt x="72958" y="0"/>
                  </a:moveTo>
                  <a:lnTo>
                    <a:pt x="1324437" y="0"/>
                  </a:lnTo>
                  <a:cubicBezTo>
                    <a:pt x="1364730" y="0"/>
                    <a:pt x="1397395" y="32664"/>
                    <a:pt x="1397395" y="72958"/>
                  </a:cubicBezTo>
                  <a:lnTo>
                    <a:pt x="1397395" y="135243"/>
                  </a:lnTo>
                  <a:cubicBezTo>
                    <a:pt x="1397395" y="154593"/>
                    <a:pt x="1389708" y="173150"/>
                    <a:pt x="1376026" y="186832"/>
                  </a:cubicBezTo>
                  <a:cubicBezTo>
                    <a:pt x="1362343" y="200515"/>
                    <a:pt x="1343786" y="208201"/>
                    <a:pt x="1324437" y="208201"/>
                  </a:cubicBezTo>
                  <a:lnTo>
                    <a:pt x="72958" y="208201"/>
                  </a:lnTo>
                  <a:cubicBezTo>
                    <a:pt x="53608" y="208201"/>
                    <a:pt x="35051" y="200515"/>
                    <a:pt x="21369" y="186832"/>
                  </a:cubicBezTo>
                  <a:cubicBezTo>
                    <a:pt x="7687" y="173150"/>
                    <a:pt x="0" y="154593"/>
                    <a:pt x="0" y="135243"/>
                  </a:cubicBezTo>
                  <a:lnTo>
                    <a:pt x="0" y="72958"/>
                  </a:lnTo>
                  <a:cubicBezTo>
                    <a:pt x="0" y="53608"/>
                    <a:pt x="7687" y="35051"/>
                    <a:pt x="21369" y="21369"/>
                  </a:cubicBezTo>
                  <a:cubicBezTo>
                    <a:pt x="35051" y="7687"/>
                    <a:pt x="53608" y="0"/>
                    <a:pt x="7295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97395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1250097"/>
            <a:ext cx="790514" cy="7905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09627" y="1181804"/>
            <a:ext cx="4210347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47019" y="2277029"/>
            <a:ext cx="5305733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Background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50824" y="3617888"/>
            <a:ext cx="12498121" cy="426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spc="-2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Many people miss local events due to lack of timely, location-based information.</a:t>
            </a:r>
          </a:p>
          <a:p>
            <a:pPr algn="ctr">
              <a:lnSpc>
                <a:spcPts val="4899"/>
              </a:lnSpc>
            </a:pPr>
            <a:r>
              <a:rPr lang="en-US" sz="3499" spc="-2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Event organizers find it hard to promote events to nearby audiences effectively.</a:t>
            </a:r>
          </a:p>
          <a:p>
            <a:pPr algn="ctr">
              <a:lnSpc>
                <a:spcPts val="4899"/>
              </a:lnSpc>
            </a:pPr>
            <a:r>
              <a:rPr lang="en-US" sz="3499" spc="-2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Current platforms don’t offer real-time, interactive maps to discover events nearby.</a:t>
            </a:r>
          </a:p>
          <a:p>
            <a:pPr algn="ctr">
              <a:lnSpc>
                <a:spcPts val="4899"/>
              </a:lnSpc>
            </a:pPr>
            <a:r>
              <a:rPr lang="en-US" sz="3499" spc="-2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Our project solves this by providing a live map with blinking event markers and easy event management.</a:t>
            </a:r>
          </a:p>
          <a:p>
            <a:pPr algn="ctr">
              <a:lnSpc>
                <a:spcPts val="392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499885" y="8880475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47899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55962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79906" y="1712497"/>
            <a:ext cx="15916048" cy="6919156"/>
            <a:chOff x="0" y="0"/>
            <a:chExt cx="4191881" cy="18223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1881" cy="1822329"/>
            </a:xfrm>
            <a:custGeom>
              <a:avLst/>
              <a:gdLst/>
              <a:ahLst/>
              <a:cxnLst/>
              <a:rect r="r" b="b" t="t" l="l"/>
              <a:pathLst>
                <a:path h="1822329" w="4191881">
                  <a:moveTo>
                    <a:pt x="14593" y="0"/>
                  </a:moveTo>
                  <a:lnTo>
                    <a:pt x="4177288" y="0"/>
                  </a:lnTo>
                  <a:cubicBezTo>
                    <a:pt x="4181158" y="0"/>
                    <a:pt x="4184870" y="1537"/>
                    <a:pt x="4187607" y="4274"/>
                  </a:cubicBezTo>
                  <a:cubicBezTo>
                    <a:pt x="4190343" y="7011"/>
                    <a:pt x="4191881" y="10722"/>
                    <a:pt x="4191881" y="14593"/>
                  </a:cubicBezTo>
                  <a:lnTo>
                    <a:pt x="4191881" y="1807737"/>
                  </a:lnTo>
                  <a:cubicBezTo>
                    <a:pt x="4191881" y="1815796"/>
                    <a:pt x="4185348" y="1822329"/>
                    <a:pt x="4177288" y="1822329"/>
                  </a:cubicBezTo>
                  <a:lnTo>
                    <a:pt x="14593" y="1822329"/>
                  </a:lnTo>
                  <a:cubicBezTo>
                    <a:pt x="6533" y="1822329"/>
                    <a:pt x="0" y="1815796"/>
                    <a:pt x="0" y="1807737"/>
                  </a:cubicBezTo>
                  <a:lnTo>
                    <a:pt x="0" y="14593"/>
                  </a:lnTo>
                  <a:cubicBezTo>
                    <a:pt x="0" y="6533"/>
                    <a:pt x="6533" y="0"/>
                    <a:pt x="14593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191881" cy="1822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2212" y="1250097"/>
            <a:ext cx="5305733" cy="790514"/>
            <a:chOff x="0" y="0"/>
            <a:chExt cx="1397395" cy="208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7395" cy="208201"/>
            </a:xfrm>
            <a:custGeom>
              <a:avLst/>
              <a:gdLst/>
              <a:ahLst/>
              <a:cxnLst/>
              <a:rect r="r" b="b" t="t" l="l"/>
              <a:pathLst>
                <a:path h="208201" w="1397395">
                  <a:moveTo>
                    <a:pt x="72958" y="0"/>
                  </a:moveTo>
                  <a:lnTo>
                    <a:pt x="1324437" y="0"/>
                  </a:lnTo>
                  <a:cubicBezTo>
                    <a:pt x="1364730" y="0"/>
                    <a:pt x="1397395" y="32664"/>
                    <a:pt x="1397395" y="72958"/>
                  </a:cubicBezTo>
                  <a:lnTo>
                    <a:pt x="1397395" y="135243"/>
                  </a:lnTo>
                  <a:cubicBezTo>
                    <a:pt x="1397395" y="154593"/>
                    <a:pt x="1389708" y="173150"/>
                    <a:pt x="1376026" y="186832"/>
                  </a:cubicBezTo>
                  <a:cubicBezTo>
                    <a:pt x="1362343" y="200515"/>
                    <a:pt x="1343786" y="208201"/>
                    <a:pt x="1324437" y="208201"/>
                  </a:cubicBezTo>
                  <a:lnTo>
                    <a:pt x="72958" y="208201"/>
                  </a:lnTo>
                  <a:cubicBezTo>
                    <a:pt x="53608" y="208201"/>
                    <a:pt x="35051" y="200515"/>
                    <a:pt x="21369" y="186832"/>
                  </a:cubicBezTo>
                  <a:cubicBezTo>
                    <a:pt x="7687" y="173150"/>
                    <a:pt x="0" y="154593"/>
                    <a:pt x="0" y="135243"/>
                  </a:cubicBezTo>
                  <a:lnTo>
                    <a:pt x="0" y="72958"/>
                  </a:lnTo>
                  <a:cubicBezTo>
                    <a:pt x="0" y="53608"/>
                    <a:pt x="7687" y="35051"/>
                    <a:pt x="21369" y="21369"/>
                  </a:cubicBezTo>
                  <a:cubicBezTo>
                    <a:pt x="35051" y="7687"/>
                    <a:pt x="53608" y="0"/>
                    <a:pt x="7295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97395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1250097"/>
            <a:ext cx="790514" cy="7905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09627" y="1181804"/>
            <a:ext cx="4210347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77370" y="2277029"/>
            <a:ext cx="5305733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159273" y="3573685"/>
            <a:ext cx="12512955" cy="790514"/>
            <a:chOff x="0" y="0"/>
            <a:chExt cx="3295593" cy="2082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032381" y="3597784"/>
            <a:ext cx="10211097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People miss local events due to poor real-time awareness.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015762" y="3562656"/>
            <a:ext cx="790514" cy="79051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084002" y="3578734"/>
            <a:ext cx="654033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159273" y="4781795"/>
            <a:ext cx="12512955" cy="790514"/>
            <a:chOff x="0" y="0"/>
            <a:chExt cx="3295593" cy="2082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032381" y="4805895"/>
            <a:ext cx="10887791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Event organizers struggle to reach nearby audiences effectively.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015762" y="4781795"/>
            <a:ext cx="790514" cy="79051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084002" y="4786845"/>
            <a:ext cx="654033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3159273" y="5989906"/>
            <a:ext cx="12512955" cy="790514"/>
            <a:chOff x="0" y="0"/>
            <a:chExt cx="3295593" cy="20820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032381" y="5994956"/>
            <a:ext cx="11639847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real-time event updates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015762" y="6000934"/>
            <a:ext cx="790514" cy="790514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3084002" y="5994956"/>
            <a:ext cx="654033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3159273" y="7180470"/>
            <a:ext cx="12512955" cy="790514"/>
            <a:chOff x="0" y="0"/>
            <a:chExt cx="3295593" cy="20820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3983291" y="7151895"/>
            <a:ext cx="11639847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platforms lack interactive, location-based event discovery.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3015762" y="7161420"/>
            <a:ext cx="790514" cy="790514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3084002" y="7142370"/>
            <a:ext cx="654033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969204" y="8999058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47146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55962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599373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01238" y="-5368158"/>
            <a:ext cx="15916048" cy="7315137"/>
            <a:chOff x="0" y="0"/>
            <a:chExt cx="4191881" cy="19266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91881" cy="1926620"/>
            </a:xfrm>
            <a:custGeom>
              <a:avLst/>
              <a:gdLst/>
              <a:ahLst/>
              <a:cxnLst/>
              <a:rect r="r" b="b" t="t" l="l"/>
              <a:pathLst>
                <a:path h="1926620" w="4191881">
                  <a:moveTo>
                    <a:pt x="14593" y="0"/>
                  </a:moveTo>
                  <a:lnTo>
                    <a:pt x="4177288" y="0"/>
                  </a:lnTo>
                  <a:cubicBezTo>
                    <a:pt x="4181158" y="0"/>
                    <a:pt x="4184870" y="1537"/>
                    <a:pt x="4187607" y="4274"/>
                  </a:cubicBezTo>
                  <a:cubicBezTo>
                    <a:pt x="4190343" y="7011"/>
                    <a:pt x="4191881" y="10722"/>
                    <a:pt x="4191881" y="14593"/>
                  </a:cubicBezTo>
                  <a:lnTo>
                    <a:pt x="4191881" y="1912028"/>
                  </a:lnTo>
                  <a:cubicBezTo>
                    <a:pt x="4191881" y="1920087"/>
                    <a:pt x="4185348" y="1926620"/>
                    <a:pt x="4177288" y="1926620"/>
                  </a:cubicBezTo>
                  <a:lnTo>
                    <a:pt x="14593" y="1926620"/>
                  </a:lnTo>
                  <a:cubicBezTo>
                    <a:pt x="6533" y="1926620"/>
                    <a:pt x="0" y="1920087"/>
                    <a:pt x="0" y="1912028"/>
                  </a:cubicBezTo>
                  <a:lnTo>
                    <a:pt x="0" y="14593"/>
                  </a:lnTo>
                  <a:cubicBezTo>
                    <a:pt x="0" y="6533"/>
                    <a:pt x="6533" y="0"/>
                    <a:pt x="14593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4191881" cy="1926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72212" y="1250097"/>
            <a:ext cx="5305733" cy="790514"/>
            <a:chOff x="0" y="0"/>
            <a:chExt cx="1397395" cy="208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7395" cy="208201"/>
            </a:xfrm>
            <a:custGeom>
              <a:avLst/>
              <a:gdLst/>
              <a:ahLst/>
              <a:cxnLst/>
              <a:rect r="r" b="b" t="t" l="l"/>
              <a:pathLst>
                <a:path h="208201" w="1397395">
                  <a:moveTo>
                    <a:pt x="72958" y="0"/>
                  </a:moveTo>
                  <a:lnTo>
                    <a:pt x="1324437" y="0"/>
                  </a:lnTo>
                  <a:cubicBezTo>
                    <a:pt x="1364730" y="0"/>
                    <a:pt x="1397395" y="32664"/>
                    <a:pt x="1397395" y="72958"/>
                  </a:cubicBezTo>
                  <a:lnTo>
                    <a:pt x="1397395" y="135243"/>
                  </a:lnTo>
                  <a:cubicBezTo>
                    <a:pt x="1397395" y="154593"/>
                    <a:pt x="1389708" y="173150"/>
                    <a:pt x="1376026" y="186832"/>
                  </a:cubicBezTo>
                  <a:cubicBezTo>
                    <a:pt x="1362343" y="200515"/>
                    <a:pt x="1343786" y="208201"/>
                    <a:pt x="1324437" y="208201"/>
                  </a:cubicBezTo>
                  <a:lnTo>
                    <a:pt x="72958" y="208201"/>
                  </a:lnTo>
                  <a:cubicBezTo>
                    <a:pt x="53608" y="208201"/>
                    <a:pt x="35051" y="200515"/>
                    <a:pt x="21369" y="186832"/>
                  </a:cubicBezTo>
                  <a:cubicBezTo>
                    <a:pt x="7687" y="173150"/>
                    <a:pt x="0" y="154593"/>
                    <a:pt x="0" y="135243"/>
                  </a:cubicBezTo>
                  <a:lnTo>
                    <a:pt x="0" y="72958"/>
                  </a:lnTo>
                  <a:cubicBezTo>
                    <a:pt x="0" y="53608"/>
                    <a:pt x="7687" y="35051"/>
                    <a:pt x="21369" y="21369"/>
                  </a:cubicBezTo>
                  <a:cubicBezTo>
                    <a:pt x="35051" y="7687"/>
                    <a:pt x="53608" y="0"/>
                    <a:pt x="7295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97395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1250097"/>
            <a:ext cx="790514" cy="7905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09627" y="1181804"/>
            <a:ext cx="4210347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77370" y="2277029"/>
            <a:ext cx="5305733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819214" y="3560162"/>
            <a:ext cx="15017681" cy="832611"/>
            <a:chOff x="0" y="0"/>
            <a:chExt cx="20023574" cy="111014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227048" y="15274"/>
              <a:ext cx="19796526" cy="1094874"/>
              <a:chOff x="0" y="0"/>
              <a:chExt cx="3764508" cy="20820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764508" cy="208201"/>
              </a:xfrm>
              <a:custGeom>
                <a:avLst/>
                <a:gdLst/>
                <a:ahLst/>
                <a:cxnLst/>
                <a:rect r="r" b="b" t="t" l="l"/>
                <a:pathLst>
                  <a:path h="208201" w="3764508">
                    <a:moveTo>
                      <a:pt x="27082" y="0"/>
                    </a:moveTo>
                    <a:lnTo>
                      <a:pt x="3737426" y="0"/>
                    </a:lnTo>
                    <a:cubicBezTo>
                      <a:pt x="3744608" y="0"/>
                      <a:pt x="3751497" y="2853"/>
                      <a:pt x="3756576" y="7932"/>
                    </a:cubicBezTo>
                    <a:cubicBezTo>
                      <a:pt x="3761655" y="13011"/>
                      <a:pt x="3764508" y="19900"/>
                      <a:pt x="3764508" y="27082"/>
                    </a:cubicBezTo>
                    <a:lnTo>
                      <a:pt x="3764508" y="181119"/>
                    </a:lnTo>
                    <a:cubicBezTo>
                      <a:pt x="3764508" y="188302"/>
                      <a:pt x="3761655" y="195190"/>
                      <a:pt x="3756576" y="200269"/>
                    </a:cubicBezTo>
                    <a:cubicBezTo>
                      <a:pt x="3751497" y="205348"/>
                      <a:pt x="3744608" y="208201"/>
                      <a:pt x="3737426" y="208201"/>
                    </a:cubicBezTo>
                    <a:lnTo>
                      <a:pt x="27082" y="208201"/>
                    </a:lnTo>
                    <a:cubicBezTo>
                      <a:pt x="19900" y="208201"/>
                      <a:pt x="13011" y="205348"/>
                      <a:pt x="7932" y="200269"/>
                    </a:cubicBezTo>
                    <a:cubicBezTo>
                      <a:pt x="2853" y="195190"/>
                      <a:pt x="0" y="188302"/>
                      <a:pt x="0" y="181119"/>
                    </a:cubicBezTo>
                    <a:lnTo>
                      <a:pt x="0" y="27082"/>
                    </a:lnTo>
                    <a:cubicBezTo>
                      <a:pt x="0" y="19900"/>
                      <a:pt x="2853" y="13011"/>
                      <a:pt x="7932" y="7932"/>
                    </a:cubicBezTo>
                    <a:cubicBezTo>
                      <a:pt x="13011" y="2853"/>
                      <a:pt x="19900" y="0"/>
                      <a:pt x="27082" y="0"/>
                    </a:cubicBezTo>
                    <a:close/>
                  </a:path>
                </a:pathLst>
              </a:custGeom>
              <a:solidFill>
                <a:srgbClr val="8BDFD5"/>
              </a:solidFill>
              <a:ln w="19050" cap="rnd">
                <a:solidFill>
                  <a:srgbClr val="4C7D77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3764508" cy="2177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0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608376" y="92660"/>
              <a:ext cx="17031083" cy="70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1"/>
                </a:lnSpc>
              </a:pPr>
              <a:r>
                <a:rPr lang="en-US" sz="2908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Centralized event discovery platform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0" y="0"/>
              <a:ext cx="1250658" cy="1094874"/>
              <a:chOff x="0" y="0"/>
              <a:chExt cx="92845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2845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28450">
                    <a:moveTo>
                      <a:pt x="464225" y="0"/>
                    </a:moveTo>
                    <a:cubicBezTo>
                      <a:pt x="207841" y="0"/>
                      <a:pt x="0" y="181951"/>
                      <a:pt x="0" y="406400"/>
                    </a:cubicBezTo>
                    <a:cubicBezTo>
                      <a:pt x="0" y="630849"/>
                      <a:pt x="207841" y="812800"/>
                      <a:pt x="464225" y="812800"/>
                    </a:cubicBezTo>
                    <a:cubicBezTo>
                      <a:pt x="720609" y="812800"/>
                      <a:pt x="928450" y="630849"/>
                      <a:pt x="928450" y="406400"/>
                    </a:cubicBezTo>
                    <a:cubicBezTo>
                      <a:pt x="928450" y="181951"/>
                      <a:pt x="720609" y="0"/>
                      <a:pt x="464225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 w="19050" cap="sq">
                <a:solidFill>
                  <a:srgbClr val="4C7D77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87042" y="66675"/>
                <a:ext cx="754365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0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07962" y="73610"/>
              <a:ext cx="1034734" cy="867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89"/>
                </a:lnSpc>
              </a:pPr>
              <a:r>
                <a:rPr lang="en-US" sz="3635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359873" y="4766397"/>
            <a:ext cx="13820209" cy="863201"/>
            <a:chOff x="0" y="0"/>
            <a:chExt cx="18426945" cy="1150934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208943" y="0"/>
              <a:ext cx="18218002" cy="1150934"/>
              <a:chOff x="0" y="0"/>
              <a:chExt cx="3295593" cy="20820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295593" cy="208201"/>
              </a:xfrm>
              <a:custGeom>
                <a:avLst/>
                <a:gdLst/>
                <a:ahLst/>
                <a:cxnLst/>
                <a:rect r="r" b="b" t="t" l="l"/>
                <a:pathLst>
                  <a:path h="208201" w="3295593">
                    <a:moveTo>
                      <a:pt x="30936" y="0"/>
                    </a:moveTo>
                    <a:lnTo>
                      <a:pt x="3264657" y="0"/>
                    </a:lnTo>
                    <a:cubicBezTo>
                      <a:pt x="3281743" y="0"/>
                      <a:pt x="3295593" y="13850"/>
                      <a:pt x="3295593" y="30936"/>
                    </a:cubicBezTo>
                    <a:lnTo>
                      <a:pt x="3295593" y="177266"/>
                    </a:lnTo>
                    <a:cubicBezTo>
                      <a:pt x="3295593" y="194351"/>
                      <a:pt x="3281743" y="208201"/>
                      <a:pt x="3264657" y="208201"/>
                    </a:cubicBezTo>
                    <a:lnTo>
                      <a:pt x="30936" y="208201"/>
                    </a:lnTo>
                    <a:cubicBezTo>
                      <a:pt x="13850" y="208201"/>
                      <a:pt x="0" y="194351"/>
                      <a:pt x="0" y="177266"/>
                    </a:cubicBezTo>
                    <a:lnTo>
                      <a:pt x="0" y="30936"/>
                    </a:lnTo>
                    <a:cubicBezTo>
                      <a:pt x="0" y="13850"/>
                      <a:pt x="13850" y="0"/>
                      <a:pt x="30936" y="0"/>
                    </a:cubicBezTo>
                    <a:close/>
                  </a:path>
                </a:pathLst>
              </a:custGeom>
              <a:solidFill>
                <a:srgbClr val="8BDFD5"/>
              </a:solidFill>
              <a:ln w="19050" cap="rnd">
                <a:solidFill>
                  <a:srgbClr val="4C7D77"/>
                </a:soli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0"/>
                <a:ext cx="3295593" cy="208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9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480128" y="77675"/>
              <a:ext cx="16582511" cy="754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83"/>
                </a:lnSpc>
              </a:pPr>
              <a:r>
                <a:rPr lang="en-US" sz="3131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updates and notifications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0" y="0"/>
              <a:ext cx="1150934" cy="1150934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 w="19050" cap="sq">
                <a:solidFill>
                  <a:srgbClr val="4C7D77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9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99354" y="49100"/>
              <a:ext cx="952227" cy="924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50"/>
                </a:lnSpc>
              </a:pPr>
              <a:r>
                <a:rPr lang="en-US" sz="3821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067027" y="7535902"/>
            <a:ext cx="12113055" cy="1091747"/>
            <a:chOff x="0" y="0"/>
            <a:chExt cx="16150741" cy="1455662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253337" y="0"/>
              <a:ext cx="14970306" cy="1455662"/>
              <a:chOff x="0" y="0"/>
              <a:chExt cx="3295593" cy="32045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295593" cy="320452"/>
              </a:xfrm>
              <a:custGeom>
                <a:avLst/>
                <a:gdLst/>
                <a:ahLst/>
                <a:cxnLst/>
                <a:rect r="r" b="b" t="t" l="l"/>
                <a:pathLst>
                  <a:path h="320452" w="3295593">
                    <a:moveTo>
                      <a:pt x="30936" y="0"/>
                    </a:moveTo>
                    <a:lnTo>
                      <a:pt x="3264657" y="0"/>
                    </a:lnTo>
                    <a:cubicBezTo>
                      <a:pt x="3281743" y="0"/>
                      <a:pt x="3295593" y="13850"/>
                      <a:pt x="3295593" y="30936"/>
                    </a:cubicBezTo>
                    <a:lnTo>
                      <a:pt x="3295593" y="289517"/>
                    </a:lnTo>
                    <a:cubicBezTo>
                      <a:pt x="3295593" y="306602"/>
                      <a:pt x="3281743" y="320452"/>
                      <a:pt x="3264657" y="320452"/>
                    </a:cubicBezTo>
                    <a:lnTo>
                      <a:pt x="30936" y="320452"/>
                    </a:lnTo>
                    <a:cubicBezTo>
                      <a:pt x="13850" y="320452"/>
                      <a:pt x="0" y="306602"/>
                      <a:pt x="0" y="289517"/>
                    </a:cubicBezTo>
                    <a:lnTo>
                      <a:pt x="0" y="30936"/>
                    </a:lnTo>
                    <a:cubicBezTo>
                      <a:pt x="0" y="13850"/>
                      <a:pt x="13850" y="0"/>
                      <a:pt x="30936" y="0"/>
                    </a:cubicBezTo>
                    <a:close/>
                  </a:path>
                </a:pathLst>
              </a:custGeom>
              <a:solidFill>
                <a:srgbClr val="8BDFD5"/>
              </a:solidFill>
              <a:ln w="19050" cap="rnd">
                <a:solidFill>
                  <a:srgbClr val="4C7D77"/>
                </a:solidFill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3295593" cy="3299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00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297910" y="156054"/>
              <a:ext cx="14852830" cy="661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1"/>
                </a:lnSpc>
              </a:pPr>
              <a:r>
                <a:rPr lang="en-US" sz="323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Integrated ride-sharing system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0" y="303502"/>
              <a:ext cx="945759" cy="945759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 w="19050" cap="sq">
                <a:solidFill>
                  <a:srgbClr val="4C7D77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00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3795" y="335380"/>
              <a:ext cx="782475" cy="7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96"/>
                </a:lnSpc>
              </a:pPr>
              <a:r>
                <a:rPr lang="en-US" sz="314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055548" y="6143948"/>
            <a:ext cx="13124534" cy="839504"/>
            <a:chOff x="0" y="0"/>
            <a:chExt cx="17499379" cy="1119338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198426" y="26339"/>
              <a:ext cx="17300954" cy="1092999"/>
              <a:chOff x="0" y="0"/>
              <a:chExt cx="3295593" cy="208201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3295593" cy="208201"/>
              </a:xfrm>
              <a:custGeom>
                <a:avLst/>
                <a:gdLst/>
                <a:ahLst/>
                <a:cxnLst/>
                <a:rect r="r" b="b" t="t" l="l"/>
                <a:pathLst>
                  <a:path h="208201" w="3295593">
                    <a:moveTo>
                      <a:pt x="30936" y="0"/>
                    </a:moveTo>
                    <a:lnTo>
                      <a:pt x="3264657" y="0"/>
                    </a:lnTo>
                    <a:cubicBezTo>
                      <a:pt x="3281743" y="0"/>
                      <a:pt x="3295593" y="13850"/>
                      <a:pt x="3295593" y="30936"/>
                    </a:cubicBezTo>
                    <a:lnTo>
                      <a:pt x="3295593" y="177266"/>
                    </a:lnTo>
                    <a:cubicBezTo>
                      <a:pt x="3295593" y="194351"/>
                      <a:pt x="3281743" y="208201"/>
                      <a:pt x="3264657" y="208201"/>
                    </a:cubicBezTo>
                    <a:lnTo>
                      <a:pt x="30936" y="208201"/>
                    </a:lnTo>
                    <a:cubicBezTo>
                      <a:pt x="13850" y="208201"/>
                      <a:pt x="0" y="194351"/>
                      <a:pt x="0" y="177266"/>
                    </a:cubicBezTo>
                    <a:lnTo>
                      <a:pt x="0" y="30936"/>
                    </a:lnTo>
                    <a:cubicBezTo>
                      <a:pt x="0" y="13850"/>
                      <a:pt x="13850" y="0"/>
                      <a:pt x="30936" y="0"/>
                    </a:cubicBezTo>
                    <a:close/>
                  </a:path>
                </a:pathLst>
              </a:custGeom>
              <a:solidFill>
                <a:srgbClr val="8BDFD5"/>
              </a:solidFill>
              <a:ln w="19050" cap="rnd">
                <a:solidFill>
                  <a:srgbClr val="4C7D77"/>
                </a:solidFill>
                <a:prstDash val="solid"/>
                <a:round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0"/>
                <a:ext cx="3295593" cy="208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9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1337748" y="34211"/>
              <a:ext cx="16093757" cy="755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5"/>
                </a:lnSpc>
              </a:pPr>
              <a:r>
                <a:rPr lang="en-US" sz="311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Provide dynamic, blinking markers to highlight active nearby events.</a:t>
              </a:r>
            </a:p>
          </p:txBody>
        </p:sp>
        <p:grpSp>
          <p:nvGrpSpPr>
            <p:cNvPr name="Group 49" id="49"/>
            <p:cNvGrpSpPr/>
            <p:nvPr/>
          </p:nvGrpSpPr>
          <p:grpSpPr>
            <a:xfrm rot="0">
              <a:off x="0" y="0"/>
              <a:ext cx="1092999" cy="1092999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7B7B7"/>
              </a:solidFill>
              <a:ln w="19050" cap="sq">
                <a:solidFill>
                  <a:srgbClr val="4C7D77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9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94352" y="24686"/>
              <a:ext cx="904294" cy="86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81"/>
                </a:lnSpc>
              </a:pPr>
              <a:r>
                <a:rPr lang="en-US" sz="362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108946" y="9258300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615" y="2591790"/>
            <a:ext cx="10731505" cy="6222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4" indent="-377822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MEETUP</a:t>
            </a: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F</a:t>
            </a: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OCUSED ON COMMUNITY GROUPS AND LACKS REAL-TIME UPDATES AND SUPPORT FOR SPONTANEOUS OR LARGE EVENTS.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755644" indent="-377822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EVENTBRITE</a:t>
            </a: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PRIMARILY TICKET-ORIENTED AND PROVIDES LIMITED LIVE STATUS OR REAL-TIME EVENT INTERACTION.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755644" indent="-377822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FACEBOOK EVENTS</a:t>
            </a: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EVENT INFORMATION IS UNSTRUCTURED, UNRELIABLE, AND LACKS REAL-TIME VERIFICATION AND PROPER MAP-BASED DISCOVERY.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172212" y="1250097"/>
            <a:ext cx="5305733" cy="790514"/>
            <a:chOff x="0" y="0"/>
            <a:chExt cx="1397395" cy="2082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395" cy="208201"/>
            </a:xfrm>
            <a:custGeom>
              <a:avLst/>
              <a:gdLst/>
              <a:ahLst/>
              <a:cxnLst/>
              <a:rect r="r" b="b" t="t" l="l"/>
              <a:pathLst>
                <a:path h="208201" w="1397395">
                  <a:moveTo>
                    <a:pt x="72958" y="0"/>
                  </a:moveTo>
                  <a:lnTo>
                    <a:pt x="1324437" y="0"/>
                  </a:lnTo>
                  <a:cubicBezTo>
                    <a:pt x="1364730" y="0"/>
                    <a:pt x="1397395" y="32664"/>
                    <a:pt x="1397395" y="72958"/>
                  </a:cubicBezTo>
                  <a:lnTo>
                    <a:pt x="1397395" y="135243"/>
                  </a:lnTo>
                  <a:cubicBezTo>
                    <a:pt x="1397395" y="154593"/>
                    <a:pt x="1389708" y="173150"/>
                    <a:pt x="1376026" y="186832"/>
                  </a:cubicBezTo>
                  <a:cubicBezTo>
                    <a:pt x="1362343" y="200515"/>
                    <a:pt x="1343786" y="208201"/>
                    <a:pt x="1324437" y="208201"/>
                  </a:cubicBezTo>
                  <a:lnTo>
                    <a:pt x="72958" y="208201"/>
                  </a:lnTo>
                  <a:cubicBezTo>
                    <a:pt x="53608" y="208201"/>
                    <a:pt x="35051" y="200515"/>
                    <a:pt x="21369" y="186832"/>
                  </a:cubicBezTo>
                  <a:cubicBezTo>
                    <a:pt x="7687" y="173150"/>
                    <a:pt x="0" y="154593"/>
                    <a:pt x="0" y="135243"/>
                  </a:cubicBezTo>
                  <a:lnTo>
                    <a:pt x="0" y="72958"/>
                  </a:lnTo>
                  <a:cubicBezTo>
                    <a:pt x="0" y="53608"/>
                    <a:pt x="7687" y="35051"/>
                    <a:pt x="21369" y="21369"/>
                  </a:cubicBezTo>
                  <a:cubicBezTo>
                    <a:pt x="35051" y="7687"/>
                    <a:pt x="53608" y="0"/>
                    <a:pt x="7295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97395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25129" y="1330276"/>
            <a:ext cx="4999898" cy="71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7"/>
              </a:lnSpc>
              <a:spcBef>
                <a:spcPct val="0"/>
              </a:spcBef>
            </a:pPr>
            <a:r>
              <a:rPr lang="en-US" b="true" sz="463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LITERATURE REVIEW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-5400000">
            <a:off x="15849046" y="6819346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400000">
            <a:off x="15652153" y="4262126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15450413" y="1675846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4820346" y="-807303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150774" y="9069388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7895" y="170981"/>
            <a:ext cx="13112211" cy="92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  <a:spcBef>
                <a:spcPct val="0"/>
              </a:spcBef>
            </a:pPr>
            <a:r>
              <a:rPr lang="en-US" b="true" sz="597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TECHNOLOGY STACK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77627" y="993839"/>
            <a:ext cx="12468663" cy="6576634"/>
            <a:chOff x="0" y="0"/>
            <a:chExt cx="3283928" cy="17321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83927" cy="1732118"/>
            </a:xfrm>
            <a:custGeom>
              <a:avLst/>
              <a:gdLst/>
              <a:ahLst/>
              <a:cxnLst/>
              <a:rect r="r" b="b" t="t" l="l"/>
              <a:pathLst>
                <a:path h="1732118" w="3283927">
                  <a:moveTo>
                    <a:pt x="12418" y="0"/>
                  </a:moveTo>
                  <a:lnTo>
                    <a:pt x="3271509" y="0"/>
                  </a:lnTo>
                  <a:cubicBezTo>
                    <a:pt x="3278368" y="0"/>
                    <a:pt x="3283927" y="5560"/>
                    <a:pt x="3283927" y="12418"/>
                  </a:cubicBezTo>
                  <a:lnTo>
                    <a:pt x="3283927" y="1719699"/>
                  </a:lnTo>
                  <a:cubicBezTo>
                    <a:pt x="3283927" y="1726558"/>
                    <a:pt x="3278368" y="1732118"/>
                    <a:pt x="3271509" y="1732118"/>
                  </a:cubicBezTo>
                  <a:lnTo>
                    <a:pt x="12418" y="1732118"/>
                  </a:lnTo>
                  <a:cubicBezTo>
                    <a:pt x="5560" y="1732118"/>
                    <a:pt x="0" y="1726558"/>
                    <a:pt x="0" y="1719699"/>
                  </a:cubicBezTo>
                  <a:lnTo>
                    <a:pt x="0" y="12418"/>
                  </a:lnTo>
                  <a:cubicBezTo>
                    <a:pt x="0" y="5560"/>
                    <a:pt x="5560" y="0"/>
                    <a:pt x="12418" y="0"/>
                  </a:cubicBezTo>
                  <a:close/>
                </a:path>
              </a:pathLst>
            </a:custGeom>
            <a:solidFill>
              <a:srgbClr val="8BDFD5">
                <a:alpha val="80000"/>
              </a:srgbClr>
            </a:solidFill>
            <a:ln w="28575" cap="sq">
              <a:solidFill>
                <a:srgbClr val="4C7D77">
                  <a:alpha val="80000"/>
                </a:srgbClr>
              </a:solidFill>
              <a:prstDash val="dash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283928" cy="173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342388" y="1485838"/>
            <a:ext cx="14708694" cy="9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sz="61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FRONTEND: REACT NATIVE, REACT  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9631961" y="2659999"/>
            <a:ext cx="30837672" cy="90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3"/>
              </a:lnSpc>
              <a:spcBef>
                <a:spcPct val="0"/>
              </a:spcBef>
            </a:pPr>
            <a:r>
              <a:rPr lang="en-US" sz="58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BACKEND: NODE.JS, EXPRESS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4344" y="3782223"/>
            <a:ext cx="12995228" cy="980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4"/>
              </a:lnSpc>
              <a:spcBef>
                <a:spcPct val="0"/>
              </a:spcBef>
            </a:pPr>
            <a:r>
              <a:rPr lang="en-US" sz="636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DATABASE: POSTGRESQL, POSTGIS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14885" y="5220238"/>
            <a:ext cx="8503116" cy="103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1"/>
              </a:lnSpc>
              <a:spcBef>
                <a:spcPct val="0"/>
              </a:spcBef>
            </a:pPr>
            <a:r>
              <a:rPr lang="en-US" sz="666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REAL-TIME: SOCKET.IO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-879760" y="-963163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9" y="0"/>
                </a:lnTo>
                <a:lnTo>
                  <a:pt x="28205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982968" y="8621233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1575" y="302360"/>
            <a:ext cx="6198344" cy="779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0"/>
              </a:lnSpc>
              <a:spcBef>
                <a:spcPct val="0"/>
              </a:spcBef>
            </a:pPr>
            <a:r>
              <a:rPr lang="en-US" b="true" sz="503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SCOPE OF THE PROJECT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5400000">
            <a:off x="647146" y="6507943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353331" y="1626429"/>
            <a:ext cx="12512955" cy="790514"/>
            <a:chOff x="0" y="0"/>
            <a:chExt cx="3295593" cy="208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353331" y="3305236"/>
            <a:ext cx="12512955" cy="790514"/>
            <a:chOff x="0" y="0"/>
            <a:chExt cx="3295593" cy="2082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53331" y="5143500"/>
            <a:ext cx="12512955" cy="790514"/>
            <a:chOff x="0" y="0"/>
            <a:chExt cx="3295593" cy="2082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353331" y="6978082"/>
            <a:ext cx="12512955" cy="790514"/>
            <a:chOff x="0" y="0"/>
            <a:chExt cx="3295593" cy="2082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95593" cy="208201"/>
            </a:xfrm>
            <a:custGeom>
              <a:avLst/>
              <a:gdLst/>
              <a:ahLst/>
              <a:cxnLst/>
              <a:rect r="r" b="b" t="t" l="l"/>
              <a:pathLst>
                <a:path h="208201" w="3295593">
                  <a:moveTo>
                    <a:pt x="30936" y="0"/>
                  </a:moveTo>
                  <a:lnTo>
                    <a:pt x="3264657" y="0"/>
                  </a:lnTo>
                  <a:cubicBezTo>
                    <a:pt x="3281743" y="0"/>
                    <a:pt x="3295593" y="13850"/>
                    <a:pt x="3295593" y="30936"/>
                  </a:cubicBezTo>
                  <a:lnTo>
                    <a:pt x="3295593" y="177266"/>
                  </a:lnTo>
                  <a:cubicBezTo>
                    <a:pt x="3295593" y="194351"/>
                    <a:pt x="3281743" y="208201"/>
                    <a:pt x="3264657" y="208201"/>
                  </a:cubicBezTo>
                  <a:lnTo>
                    <a:pt x="30936" y="208201"/>
                  </a:lnTo>
                  <a:cubicBezTo>
                    <a:pt x="13850" y="208201"/>
                    <a:pt x="0" y="194351"/>
                    <a:pt x="0" y="177266"/>
                  </a:cubicBezTo>
                  <a:lnTo>
                    <a:pt x="0" y="30936"/>
                  </a:lnTo>
                  <a:cubicBezTo>
                    <a:pt x="0" y="13850"/>
                    <a:pt x="13850" y="0"/>
                    <a:pt x="30936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295593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63633" y="1783621"/>
            <a:ext cx="13913869" cy="56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2"/>
              </a:lnSpc>
              <a:spcBef>
                <a:spcPct val="0"/>
              </a:spcBef>
            </a:pPr>
            <a:r>
              <a:rPr lang="en-US" b="true" sz="37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APP FOR USERS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451676" y="3403023"/>
            <a:ext cx="18054699" cy="492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  <a:spcBef>
                <a:spcPct val="0"/>
              </a:spcBef>
            </a:pPr>
            <a:r>
              <a:rPr lang="en-US" b="true" sz="326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 PORTAL FOR ORGANIZERS AND ADMIN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1015604" y="5200650"/>
            <a:ext cx="16881889" cy="52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4"/>
              </a:lnSpc>
              <a:spcBef>
                <a:spcPct val="0"/>
              </a:spcBef>
            </a:pPr>
            <a:r>
              <a:rPr lang="en-US" b="true" sz="342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EVENT CREATION AND APPROVAL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008778"/>
            <a:ext cx="13897533" cy="52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8"/>
              </a:lnSpc>
              <a:spcBef>
                <a:spcPct val="0"/>
              </a:spcBef>
            </a:pPr>
            <a:r>
              <a:rPr lang="en-US" b="true" sz="346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 AND RIDE BOOKING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448776" y="8880475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47146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55962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99363" y="2040611"/>
            <a:ext cx="17398162" cy="7932708"/>
            <a:chOff x="0" y="0"/>
            <a:chExt cx="4582232" cy="20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2232" cy="2089273"/>
            </a:xfrm>
            <a:custGeom>
              <a:avLst/>
              <a:gdLst/>
              <a:ahLst/>
              <a:cxnLst/>
              <a:rect r="r" b="b" t="t" l="l"/>
              <a:pathLst>
                <a:path h="2089273" w="4582232">
                  <a:moveTo>
                    <a:pt x="13350" y="0"/>
                  </a:moveTo>
                  <a:lnTo>
                    <a:pt x="4568882" y="0"/>
                  </a:lnTo>
                  <a:cubicBezTo>
                    <a:pt x="4572423" y="0"/>
                    <a:pt x="4575818" y="1406"/>
                    <a:pt x="4578322" y="3910"/>
                  </a:cubicBezTo>
                  <a:cubicBezTo>
                    <a:pt x="4580825" y="6414"/>
                    <a:pt x="4582232" y="9809"/>
                    <a:pt x="4582232" y="13350"/>
                  </a:cubicBezTo>
                  <a:lnTo>
                    <a:pt x="4582232" y="2075923"/>
                  </a:lnTo>
                  <a:cubicBezTo>
                    <a:pt x="4582232" y="2079464"/>
                    <a:pt x="4580825" y="2082859"/>
                    <a:pt x="4578322" y="2085363"/>
                  </a:cubicBezTo>
                  <a:cubicBezTo>
                    <a:pt x="4575818" y="2087866"/>
                    <a:pt x="4572423" y="2089273"/>
                    <a:pt x="4568882" y="2089273"/>
                  </a:cubicBezTo>
                  <a:lnTo>
                    <a:pt x="13350" y="2089273"/>
                  </a:lnTo>
                  <a:cubicBezTo>
                    <a:pt x="9809" y="2089273"/>
                    <a:pt x="6414" y="2087866"/>
                    <a:pt x="3910" y="2085363"/>
                  </a:cubicBezTo>
                  <a:cubicBezTo>
                    <a:pt x="1406" y="2082859"/>
                    <a:pt x="0" y="2079464"/>
                    <a:pt x="0" y="2075923"/>
                  </a:cubicBezTo>
                  <a:lnTo>
                    <a:pt x="0" y="13350"/>
                  </a:lnTo>
                  <a:cubicBezTo>
                    <a:pt x="0" y="9809"/>
                    <a:pt x="1406" y="6414"/>
                    <a:pt x="3910" y="3910"/>
                  </a:cubicBezTo>
                  <a:cubicBezTo>
                    <a:pt x="6414" y="1406"/>
                    <a:pt x="9809" y="0"/>
                    <a:pt x="13350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4582232" cy="2089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200912" y="1250097"/>
            <a:ext cx="5305733" cy="790514"/>
            <a:chOff x="0" y="0"/>
            <a:chExt cx="1397395" cy="208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7395" cy="208201"/>
            </a:xfrm>
            <a:custGeom>
              <a:avLst/>
              <a:gdLst/>
              <a:ahLst/>
              <a:cxnLst/>
              <a:rect r="r" b="b" t="t" l="l"/>
              <a:pathLst>
                <a:path h="208201" w="1397395">
                  <a:moveTo>
                    <a:pt x="72958" y="0"/>
                  </a:moveTo>
                  <a:lnTo>
                    <a:pt x="1324437" y="0"/>
                  </a:lnTo>
                  <a:cubicBezTo>
                    <a:pt x="1364730" y="0"/>
                    <a:pt x="1397395" y="32664"/>
                    <a:pt x="1397395" y="72958"/>
                  </a:cubicBezTo>
                  <a:lnTo>
                    <a:pt x="1397395" y="135243"/>
                  </a:lnTo>
                  <a:cubicBezTo>
                    <a:pt x="1397395" y="154593"/>
                    <a:pt x="1389708" y="173150"/>
                    <a:pt x="1376026" y="186832"/>
                  </a:cubicBezTo>
                  <a:cubicBezTo>
                    <a:pt x="1362343" y="200515"/>
                    <a:pt x="1343786" y="208201"/>
                    <a:pt x="1324437" y="208201"/>
                  </a:cubicBezTo>
                  <a:lnTo>
                    <a:pt x="72958" y="208201"/>
                  </a:lnTo>
                  <a:cubicBezTo>
                    <a:pt x="53608" y="208201"/>
                    <a:pt x="35051" y="200515"/>
                    <a:pt x="21369" y="186832"/>
                  </a:cubicBezTo>
                  <a:cubicBezTo>
                    <a:pt x="7687" y="173150"/>
                    <a:pt x="0" y="154593"/>
                    <a:pt x="0" y="135243"/>
                  </a:cubicBezTo>
                  <a:lnTo>
                    <a:pt x="0" y="72958"/>
                  </a:lnTo>
                  <a:cubicBezTo>
                    <a:pt x="0" y="53608"/>
                    <a:pt x="7687" y="35051"/>
                    <a:pt x="21369" y="21369"/>
                  </a:cubicBezTo>
                  <a:cubicBezTo>
                    <a:pt x="35051" y="7687"/>
                    <a:pt x="53608" y="0"/>
                    <a:pt x="7295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97395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57400" y="1250097"/>
            <a:ext cx="790514" cy="7905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483361" y="2489854"/>
            <a:ext cx="5741155" cy="2842558"/>
            <a:chOff x="0" y="0"/>
            <a:chExt cx="1512074" cy="7486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12074" cy="748657"/>
            </a:xfrm>
            <a:custGeom>
              <a:avLst/>
              <a:gdLst/>
              <a:ahLst/>
              <a:cxnLst/>
              <a:rect r="r" b="b" t="t" l="l"/>
              <a:pathLst>
                <a:path h="748657" w="1512074">
                  <a:moveTo>
                    <a:pt x="26970" y="0"/>
                  </a:moveTo>
                  <a:lnTo>
                    <a:pt x="1485104" y="0"/>
                  </a:lnTo>
                  <a:cubicBezTo>
                    <a:pt x="1499999" y="0"/>
                    <a:pt x="1512074" y="12075"/>
                    <a:pt x="1512074" y="26970"/>
                  </a:cubicBezTo>
                  <a:lnTo>
                    <a:pt x="1512074" y="721687"/>
                  </a:lnTo>
                  <a:cubicBezTo>
                    <a:pt x="1512074" y="736583"/>
                    <a:pt x="1499999" y="748657"/>
                    <a:pt x="1485104" y="748657"/>
                  </a:cubicBezTo>
                  <a:lnTo>
                    <a:pt x="26970" y="748657"/>
                  </a:lnTo>
                  <a:cubicBezTo>
                    <a:pt x="12075" y="748657"/>
                    <a:pt x="0" y="736583"/>
                    <a:pt x="0" y="721687"/>
                  </a:cubicBezTo>
                  <a:lnTo>
                    <a:pt x="0" y="26970"/>
                  </a:lnTo>
                  <a:cubicBezTo>
                    <a:pt x="0" y="12075"/>
                    <a:pt x="12075" y="0"/>
                    <a:pt x="26970" y="0"/>
                  </a:cubicBezTo>
                  <a:close/>
                </a:path>
              </a:pathLst>
            </a:custGeom>
            <a:solidFill>
              <a:srgbClr val="8BDFD5">
                <a:alpha val="80000"/>
              </a:srgbClr>
            </a:solidFill>
            <a:ln w="28575" cap="sq">
              <a:solidFill>
                <a:srgbClr val="4C7D77">
                  <a:alpha val="80000"/>
                </a:srgbClr>
              </a:solidFill>
              <a:prstDash val="dash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512074" cy="74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038327" y="1181804"/>
            <a:ext cx="4717876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Related Theory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36503" y="2950609"/>
            <a:ext cx="5115380" cy="111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0"/>
              </a:lnSpc>
            </a:pPr>
            <a:r>
              <a:rPr lang="en-US" sz="40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Location-Based Services (LBS)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030850" y="2438954"/>
            <a:ext cx="5741155" cy="2842558"/>
            <a:chOff x="0" y="0"/>
            <a:chExt cx="1512074" cy="7486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2074" cy="748657"/>
            </a:xfrm>
            <a:custGeom>
              <a:avLst/>
              <a:gdLst/>
              <a:ahLst/>
              <a:cxnLst/>
              <a:rect r="r" b="b" t="t" l="l"/>
              <a:pathLst>
                <a:path h="748657" w="1512074">
                  <a:moveTo>
                    <a:pt x="26970" y="0"/>
                  </a:moveTo>
                  <a:lnTo>
                    <a:pt x="1485104" y="0"/>
                  </a:lnTo>
                  <a:cubicBezTo>
                    <a:pt x="1499999" y="0"/>
                    <a:pt x="1512074" y="12075"/>
                    <a:pt x="1512074" y="26970"/>
                  </a:cubicBezTo>
                  <a:lnTo>
                    <a:pt x="1512074" y="721687"/>
                  </a:lnTo>
                  <a:cubicBezTo>
                    <a:pt x="1512074" y="736583"/>
                    <a:pt x="1499999" y="748657"/>
                    <a:pt x="1485104" y="748657"/>
                  </a:cubicBezTo>
                  <a:lnTo>
                    <a:pt x="26970" y="748657"/>
                  </a:lnTo>
                  <a:cubicBezTo>
                    <a:pt x="12075" y="748657"/>
                    <a:pt x="0" y="736583"/>
                    <a:pt x="0" y="721687"/>
                  </a:cubicBezTo>
                  <a:lnTo>
                    <a:pt x="0" y="26970"/>
                  </a:lnTo>
                  <a:cubicBezTo>
                    <a:pt x="0" y="12075"/>
                    <a:pt x="12075" y="0"/>
                    <a:pt x="26970" y="0"/>
                  </a:cubicBezTo>
                  <a:close/>
                </a:path>
              </a:pathLst>
            </a:custGeom>
            <a:solidFill>
              <a:srgbClr val="8BDFD5">
                <a:alpha val="80000"/>
              </a:srgbClr>
            </a:solidFill>
            <a:ln w="28575" cap="sq">
              <a:solidFill>
                <a:srgbClr val="4C7D77">
                  <a:alpha val="80000"/>
                </a:srgbClr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12074" cy="74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23616" y="5454582"/>
            <a:ext cx="5741155" cy="2842558"/>
            <a:chOff x="0" y="0"/>
            <a:chExt cx="1512074" cy="7486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12074" cy="748657"/>
            </a:xfrm>
            <a:custGeom>
              <a:avLst/>
              <a:gdLst/>
              <a:ahLst/>
              <a:cxnLst/>
              <a:rect r="r" b="b" t="t" l="l"/>
              <a:pathLst>
                <a:path h="748657" w="1512074">
                  <a:moveTo>
                    <a:pt x="26970" y="0"/>
                  </a:moveTo>
                  <a:lnTo>
                    <a:pt x="1485104" y="0"/>
                  </a:lnTo>
                  <a:cubicBezTo>
                    <a:pt x="1499999" y="0"/>
                    <a:pt x="1512074" y="12075"/>
                    <a:pt x="1512074" y="26970"/>
                  </a:cubicBezTo>
                  <a:lnTo>
                    <a:pt x="1512074" y="721687"/>
                  </a:lnTo>
                  <a:cubicBezTo>
                    <a:pt x="1512074" y="736583"/>
                    <a:pt x="1499999" y="748657"/>
                    <a:pt x="1485104" y="748657"/>
                  </a:cubicBezTo>
                  <a:lnTo>
                    <a:pt x="26970" y="748657"/>
                  </a:lnTo>
                  <a:cubicBezTo>
                    <a:pt x="12075" y="748657"/>
                    <a:pt x="0" y="736583"/>
                    <a:pt x="0" y="721687"/>
                  </a:cubicBezTo>
                  <a:lnTo>
                    <a:pt x="0" y="26970"/>
                  </a:lnTo>
                  <a:cubicBezTo>
                    <a:pt x="0" y="12075"/>
                    <a:pt x="12075" y="0"/>
                    <a:pt x="26970" y="0"/>
                  </a:cubicBezTo>
                  <a:close/>
                </a:path>
              </a:pathLst>
            </a:custGeom>
            <a:solidFill>
              <a:srgbClr val="8BDFD5">
                <a:alpha val="80000"/>
              </a:srgbClr>
            </a:solidFill>
            <a:ln w="28575" cap="sq">
              <a:solidFill>
                <a:srgbClr val="4C7D77">
                  <a:alpha val="80000"/>
                </a:srgbClr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512074" cy="74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030850" y="5454582"/>
            <a:ext cx="5741155" cy="2842558"/>
            <a:chOff x="0" y="0"/>
            <a:chExt cx="1512074" cy="7486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12074" cy="748657"/>
            </a:xfrm>
            <a:custGeom>
              <a:avLst/>
              <a:gdLst/>
              <a:ahLst/>
              <a:cxnLst/>
              <a:rect r="r" b="b" t="t" l="l"/>
              <a:pathLst>
                <a:path h="748657" w="1512074">
                  <a:moveTo>
                    <a:pt x="26970" y="0"/>
                  </a:moveTo>
                  <a:lnTo>
                    <a:pt x="1485104" y="0"/>
                  </a:lnTo>
                  <a:cubicBezTo>
                    <a:pt x="1499999" y="0"/>
                    <a:pt x="1512074" y="12075"/>
                    <a:pt x="1512074" y="26970"/>
                  </a:cubicBezTo>
                  <a:lnTo>
                    <a:pt x="1512074" y="721687"/>
                  </a:lnTo>
                  <a:cubicBezTo>
                    <a:pt x="1512074" y="736583"/>
                    <a:pt x="1499999" y="748657"/>
                    <a:pt x="1485104" y="748657"/>
                  </a:cubicBezTo>
                  <a:lnTo>
                    <a:pt x="26970" y="748657"/>
                  </a:lnTo>
                  <a:cubicBezTo>
                    <a:pt x="12075" y="748657"/>
                    <a:pt x="0" y="736583"/>
                    <a:pt x="0" y="721687"/>
                  </a:cubicBezTo>
                  <a:lnTo>
                    <a:pt x="0" y="26970"/>
                  </a:lnTo>
                  <a:cubicBezTo>
                    <a:pt x="0" y="12075"/>
                    <a:pt x="12075" y="0"/>
                    <a:pt x="26970" y="0"/>
                  </a:cubicBezTo>
                  <a:close/>
                </a:path>
              </a:pathLst>
            </a:custGeom>
            <a:solidFill>
              <a:srgbClr val="8BDFD5">
                <a:alpha val="80000"/>
              </a:srgbClr>
            </a:solidFill>
            <a:ln w="28575" cap="sq">
              <a:solidFill>
                <a:srgbClr val="4C7D77">
                  <a:alpha val="80000"/>
                </a:srgbClr>
              </a:solidFill>
              <a:prstDash val="dash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512074" cy="74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930546" y="3245937"/>
            <a:ext cx="1186140" cy="118614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930546" y="6282791"/>
            <a:ext cx="1186140" cy="118614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37780" y="3245937"/>
            <a:ext cx="1186140" cy="118614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437780" y="6282791"/>
            <a:ext cx="1186140" cy="118614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3613246" y="5955611"/>
            <a:ext cx="5975673" cy="60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6"/>
              </a:lnSpc>
            </a:pPr>
            <a:r>
              <a:rPr lang="en-US" sz="395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Data Streaming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318438" y="2700806"/>
            <a:ext cx="4964646" cy="111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5"/>
              </a:lnSpc>
            </a:pPr>
            <a:r>
              <a:rPr lang="en-US" sz="39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Geospatial Databases &amp; Queries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8438" y="5906129"/>
            <a:ext cx="5535598" cy="122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1"/>
              </a:lnSpc>
            </a:pPr>
            <a:r>
              <a:rPr lang="en-US" sz="44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Push Notification Systems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953893" y="3375456"/>
            <a:ext cx="1139445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953893" y="6412311"/>
            <a:ext cx="1139445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37780" y="3375456"/>
            <a:ext cx="1139445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461128" y="6412311"/>
            <a:ext cx="1139445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04</a:t>
            </a:r>
          </a:p>
        </p:txBody>
      </p:sp>
      <p:sp>
        <p:nvSpPr>
          <p:cNvPr name="Freeform 48" id="48"/>
          <p:cNvSpPr/>
          <p:nvPr/>
        </p:nvSpPr>
        <p:spPr>
          <a:xfrm flipH="true" flipV="false" rot="-5400000">
            <a:off x="799546" y="56838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9508403" y="8880475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2212" y="296740"/>
            <a:ext cx="7971788" cy="1782439"/>
            <a:chOff x="0" y="0"/>
            <a:chExt cx="2099566" cy="469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9566" cy="469449"/>
            </a:xfrm>
            <a:custGeom>
              <a:avLst/>
              <a:gdLst/>
              <a:ahLst/>
              <a:cxnLst/>
              <a:rect r="r" b="b" t="t" l="l"/>
              <a:pathLst>
                <a:path h="469449" w="2099566">
                  <a:moveTo>
                    <a:pt x="48558" y="0"/>
                  </a:moveTo>
                  <a:lnTo>
                    <a:pt x="2051007" y="0"/>
                  </a:lnTo>
                  <a:cubicBezTo>
                    <a:pt x="2077825" y="0"/>
                    <a:pt x="2099566" y="21740"/>
                    <a:pt x="2099566" y="48558"/>
                  </a:cubicBezTo>
                  <a:lnTo>
                    <a:pt x="2099566" y="420891"/>
                  </a:lnTo>
                  <a:cubicBezTo>
                    <a:pt x="2099566" y="433769"/>
                    <a:pt x="2094450" y="446120"/>
                    <a:pt x="2085343" y="455227"/>
                  </a:cubicBezTo>
                  <a:cubicBezTo>
                    <a:pt x="2076237" y="464333"/>
                    <a:pt x="2063886" y="469449"/>
                    <a:pt x="2051007" y="469449"/>
                  </a:cubicBezTo>
                  <a:lnTo>
                    <a:pt x="48558" y="469449"/>
                  </a:lnTo>
                  <a:cubicBezTo>
                    <a:pt x="35680" y="469449"/>
                    <a:pt x="23329" y="464333"/>
                    <a:pt x="14222" y="455227"/>
                  </a:cubicBezTo>
                  <a:cubicBezTo>
                    <a:pt x="5116" y="446120"/>
                    <a:pt x="0" y="433769"/>
                    <a:pt x="0" y="420891"/>
                  </a:cubicBezTo>
                  <a:lnTo>
                    <a:pt x="0" y="48558"/>
                  </a:lnTo>
                  <a:cubicBezTo>
                    <a:pt x="0" y="35680"/>
                    <a:pt x="5116" y="23329"/>
                    <a:pt x="14222" y="14222"/>
                  </a:cubicBezTo>
                  <a:cubicBezTo>
                    <a:pt x="23329" y="5116"/>
                    <a:pt x="35680" y="0"/>
                    <a:pt x="4855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99566" cy="469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692600" y="-681317"/>
            <a:ext cx="1234598" cy="7875466"/>
            <a:chOff x="0" y="0"/>
            <a:chExt cx="256059" cy="1633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6316720" y="646422"/>
            <a:ext cx="1328268" cy="8472985"/>
            <a:chOff x="0" y="0"/>
            <a:chExt cx="256059" cy="1633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8820288" y="2639987"/>
            <a:ext cx="1282075" cy="8178319"/>
            <a:chOff x="0" y="0"/>
            <a:chExt cx="256059" cy="16333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6367251" y="4288354"/>
            <a:ext cx="1347057" cy="8592835"/>
            <a:chOff x="0" y="0"/>
            <a:chExt cx="256059" cy="16333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-1410254" y="-1388475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938141" y="6394774"/>
            <a:ext cx="9046368" cy="750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2"/>
              </a:lnSpc>
              <a:spcBef>
                <a:spcPct val="0"/>
              </a:spcBef>
            </a:pPr>
            <a:r>
              <a:rPr lang="en-US" sz="489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FILTER BY CATEGORY AND DATE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92938" y="4519416"/>
            <a:ext cx="6322963" cy="84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4"/>
              </a:lnSpc>
              <a:spcBef>
                <a:spcPct val="0"/>
              </a:spcBef>
            </a:pPr>
            <a:r>
              <a:rPr lang="en-US" sz="54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MAP VIEW OF EVENTS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62794" y="2899013"/>
            <a:ext cx="6815584" cy="77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4"/>
              </a:lnSpc>
              <a:spcBef>
                <a:spcPct val="0"/>
              </a:spcBef>
            </a:pPr>
            <a:r>
              <a:rPr lang="en-US" sz="50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LOCATION-BASED SEARCH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89799" y="8281586"/>
            <a:ext cx="9047397" cy="76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4"/>
              </a:lnSpc>
              <a:spcBef>
                <a:spcPct val="0"/>
              </a:spcBef>
            </a:pPr>
            <a:r>
              <a:rPr lang="en-US" sz="49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EVENT APPEARANCE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7443" y="910403"/>
            <a:ext cx="9461325" cy="804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8"/>
              </a:lnSpc>
              <a:spcBef>
                <a:spcPct val="0"/>
              </a:spcBef>
            </a:pPr>
            <a:r>
              <a:rPr lang="en-US" b="true" sz="519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EVENT DISCOVERY FEATURE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09554" y="9523866"/>
            <a:ext cx="161032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870773"/>
            <a:ext cx="5020998" cy="11157773"/>
          </a:xfrm>
          <a:custGeom>
            <a:avLst/>
            <a:gdLst/>
            <a:ahLst/>
            <a:cxnLst/>
            <a:rect r="r" b="b" t="t" l="l"/>
            <a:pathLst>
              <a:path h="11157773" w="5020998">
                <a:moveTo>
                  <a:pt x="0" y="0"/>
                </a:moveTo>
                <a:lnTo>
                  <a:pt x="5020998" y="0"/>
                </a:lnTo>
                <a:lnTo>
                  <a:pt x="5020998" y="11157773"/>
                </a:lnTo>
                <a:lnTo>
                  <a:pt x="0" y="11157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75909" y="32421"/>
            <a:ext cx="9286071" cy="10254579"/>
          </a:xfrm>
          <a:custGeom>
            <a:avLst/>
            <a:gdLst/>
            <a:ahLst/>
            <a:cxnLst/>
            <a:rect r="r" b="b" t="t" l="l"/>
            <a:pathLst>
              <a:path h="10254579" w="9286071">
                <a:moveTo>
                  <a:pt x="0" y="0"/>
                </a:moveTo>
                <a:lnTo>
                  <a:pt x="9286070" y="0"/>
                </a:lnTo>
                <a:lnTo>
                  <a:pt x="9286070" y="10254579"/>
                </a:lnTo>
                <a:lnTo>
                  <a:pt x="0" y="10254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992" t="0" r="-7218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430466" y="-899376"/>
            <a:ext cx="1296994" cy="8273486"/>
            <a:chOff x="0" y="0"/>
            <a:chExt cx="256059" cy="16333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095907" y="789030"/>
            <a:ext cx="1311994" cy="8369170"/>
            <a:chOff x="0" y="0"/>
            <a:chExt cx="256059" cy="1633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6639644" y="2446537"/>
            <a:ext cx="1374770" cy="8769618"/>
            <a:chOff x="0" y="0"/>
            <a:chExt cx="256059" cy="1633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8374760" y="4033950"/>
            <a:ext cx="1416909" cy="9031791"/>
            <a:chOff x="0" y="0"/>
            <a:chExt cx="256247" cy="16333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47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247">
                  <a:moveTo>
                    <a:pt x="256247" y="0"/>
                  </a:moveTo>
                  <a:lnTo>
                    <a:pt x="256247" y="1519091"/>
                  </a:lnTo>
                  <a:lnTo>
                    <a:pt x="128123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247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6247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91262" y="599865"/>
            <a:ext cx="7952738" cy="1479314"/>
            <a:chOff x="0" y="0"/>
            <a:chExt cx="2094548" cy="3896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4548" cy="389614"/>
            </a:xfrm>
            <a:custGeom>
              <a:avLst/>
              <a:gdLst/>
              <a:ahLst/>
              <a:cxnLst/>
              <a:rect r="r" b="b" t="t" l="l"/>
              <a:pathLst>
                <a:path h="389614" w="2094548">
                  <a:moveTo>
                    <a:pt x="48675" y="0"/>
                  </a:moveTo>
                  <a:lnTo>
                    <a:pt x="2045874" y="0"/>
                  </a:lnTo>
                  <a:cubicBezTo>
                    <a:pt x="2058783" y="0"/>
                    <a:pt x="2071164" y="5128"/>
                    <a:pt x="2080292" y="14256"/>
                  </a:cubicBezTo>
                  <a:cubicBezTo>
                    <a:pt x="2089420" y="23385"/>
                    <a:pt x="2094548" y="35765"/>
                    <a:pt x="2094548" y="48675"/>
                  </a:cubicBezTo>
                  <a:lnTo>
                    <a:pt x="2094548" y="340939"/>
                  </a:lnTo>
                  <a:cubicBezTo>
                    <a:pt x="2094548" y="367821"/>
                    <a:pt x="2072756" y="389614"/>
                    <a:pt x="2045874" y="389614"/>
                  </a:cubicBezTo>
                  <a:lnTo>
                    <a:pt x="48675" y="389614"/>
                  </a:lnTo>
                  <a:cubicBezTo>
                    <a:pt x="35765" y="389614"/>
                    <a:pt x="23385" y="384485"/>
                    <a:pt x="14256" y="375357"/>
                  </a:cubicBezTo>
                  <a:cubicBezTo>
                    <a:pt x="5128" y="366229"/>
                    <a:pt x="0" y="353848"/>
                    <a:pt x="0" y="340939"/>
                  </a:cubicBezTo>
                  <a:lnTo>
                    <a:pt x="0" y="48675"/>
                  </a:lnTo>
                  <a:cubicBezTo>
                    <a:pt x="0" y="21792"/>
                    <a:pt x="21792" y="0"/>
                    <a:pt x="48675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94548" cy="38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89196" y="6218649"/>
            <a:ext cx="11122641" cy="130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sz="46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ANSWERS COMMON QUESTIONS(WORKING)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01968" y="8211971"/>
            <a:ext cx="10590614" cy="73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  <a:spcBef>
                <a:spcPct val="0"/>
              </a:spcBef>
            </a:pPr>
            <a:r>
              <a:rPr lang="en-US" sz="486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MESSAGES DELIVERED INSTANTLY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67319" y="4462879"/>
            <a:ext cx="7783901" cy="130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sz="46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USERS AND ORGANIZERS CAN CHAT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42220" y="2841633"/>
            <a:ext cx="7871357" cy="781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  <a:spcBef>
                <a:spcPct val="0"/>
              </a:spcBef>
            </a:pPr>
            <a:r>
              <a:rPr lang="en-US" sz="5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EVENT-SPECIFIC CHAT ROOMS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3181" y="899367"/>
            <a:ext cx="8400819" cy="79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8"/>
              </a:lnSpc>
              <a:spcBef>
                <a:spcPct val="0"/>
              </a:spcBef>
            </a:pPr>
            <a:r>
              <a:rPr lang="en-US" b="true" sz="512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CHAT SYSTEM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83214" y="9639300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644252"/>
          </a:xfrm>
          <a:custGeom>
            <a:avLst/>
            <a:gdLst/>
            <a:ahLst/>
            <a:cxnLst/>
            <a:rect r="r" b="b" t="t" l="l"/>
            <a:pathLst>
              <a:path h="10644252" w="18288000">
                <a:moveTo>
                  <a:pt x="0" y="0"/>
                </a:moveTo>
                <a:lnTo>
                  <a:pt x="18288000" y="0"/>
                </a:lnTo>
                <a:lnTo>
                  <a:pt x="18288000" y="10644252"/>
                </a:lnTo>
                <a:lnTo>
                  <a:pt x="0" y="10644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70" r="0" b="-727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83042" y="9619549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99101" y="1599547"/>
            <a:ext cx="12388899" cy="5863021"/>
          </a:xfrm>
          <a:custGeom>
            <a:avLst/>
            <a:gdLst/>
            <a:ahLst/>
            <a:cxnLst/>
            <a:rect r="r" b="b" t="t" l="l"/>
            <a:pathLst>
              <a:path h="5863021" w="12388899">
                <a:moveTo>
                  <a:pt x="0" y="0"/>
                </a:moveTo>
                <a:lnTo>
                  <a:pt x="12388899" y="0"/>
                </a:lnTo>
                <a:lnTo>
                  <a:pt x="12388899" y="5863020"/>
                </a:lnTo>
                <a:lnTo>
                  <a:pt x="0" y="5863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0384" y="263558"/>
            <a:ext cx="4391947" cy="9759883"/>
          </a:xfrm>
          <a:custGeom>
            <a:avLst/>
            <a:gdLst/>
            <a:ahLst/>
            <a:cxnLst/>
            <a:rect r="r" b="b" t="t" l="l"/>
            <a:pathLst>
              <a:path h="9759883" w="4391947">
                <a:moveTo>
                  <a:pt x="0" y="0"/>
                </a:moveTo>
                <a:lnTo>
                  <a:pt x="4391948" y="0"/>
                </a:lnTo>
                <a:lnTo>
                  <a:pt x="4391948" y="9759884"/>
                </a:lnTo>
                <a:lnTo>
                  <a:pt x="0" y="9759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22085" y="9645617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160421" y="560198"/>
            <a:ext cx="1437004" cy="9166605"/>
            <a:chOff x="0" y="0"/>
            <a:chExt cx="256059" cy="16333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272279" y="-1232931"/>
            <a:ext cx="1436938" cy="9166188"/>
            <a:chOff x="0" y="0"/>
            <a:chExt cx="256059" cy="1633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8456896" y="2688236"/>
            <a:ext cx="1374209" cy="8766039"/>
            <a:chOff x="0" y="0"/>
            <a:chExt cx="256059" cy="1633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6147686" y="4267002"/>
            <a:ext cx="1440455" cy="9188623"/>
            <a:chOff x="0" y="0"/>
            <a:chExt cx="256059" cy="16333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2212" y="447300"/>
            <a:ext cx="8766942" cy="1631879"/>
            <a:chOff x="0" y="0"/>
            <a:chExt cx="2308989" cy="4297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8989" cy="429795"/>
            </a:xfrm>
            <a:custGeom>
              <a:avLst/>
              <a:gdLst/>
              <a:ahLst/>
              <a:cxnLst/>
              <a:rect r="r" b="b" t="t" l="l"/>
              <a:pathLst>
                <a:path h="429795" w="2308989">
                  <a:moveTo>
                    <a:pt x="44154" y="0"/>
                  </a:moveTo>
                  <a:lnTo>
                    <a:pt x="2264835" y="0"/>
                  </a:lnTo>
                  <a:cubicBezTo>
                    <a:pt x="2289221" y="0"/>
                    <a:pt x="2308989" y="19768"/>
                    <a:pt x="2308989" y="44154"/>
                  </a:cubicBezTo>
                  <a:lnTo>
                    <a:pt x="2308989" y="385641"/>
                  </a:lnTo>
                  <a:cubicBezTo>
                    <a:pt x="2308989" y="410027"/>
                    <a:pt x="2289221" y="429795"/>
                    <a:pt x="2264835" y="429795"/>
                  </a:cubicBezTo>
                  <a:lnTo>
                    <a:pt x="44154" y="429795"/>
                  </a:lnTo>
                  <a:cubicBezTo>
                    <a:pt x="19768" y="429795"/>
                    <a:pt x="0" y="410027"/>
                    <a:pt x="0" y="385641"/>
                  </a:cubicBezTo>
                  <a:lnTo>
                    <a:pt x="0" y="44154"/>
                  </a:lnTo>
                  <a:cubicBezTo>
                    <a:pt x="0" y="19768"/>
                    <a:pt x="19768" y="0"/>
                    <a:pt x="44154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308989" cy="429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83046" y="6461449"/>
            <a:ext cx="8861798" cy="129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b="true" sz="468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DISTANCE-BASED PRICE CALCULATION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95621" y="4769618"/>
            <a:ext cx="8978921" cy="70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b="true" sz="468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RIDERS REGISTER AND GET VERIFIED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59906" y="2983626"/>
            <a:ext cx="8384937" cy="70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b="true" sz="468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USERS REQUEST RIDES TO EVENTS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6517" y="681905"/>
            <a:ext cx="8530457" cy="104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7"/>
              </a:lnSpc>
              <a:spcBef>
                <a:spcPct val="0"/>
              </a:spcBef>
            </a:pPr>
            <a:r>
              <a:rPr lang="en-US" b="true" sz="678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RIDE SHARING FEATURE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38205" y="8550353"/>
            <a:ext cx="9424020" cy="70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b="true" sz="468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RIDE NOTIFICATIONS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9712778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29150" cy="10287000"/>
          </a:xfrm>
          <a:custGeom>
            <a:avLst/>
            <a:gdLst/>
            <a:ahLst/>
            <a:cxnLst/>
            <a:rect r="r" b="b" t="t" l="l"/>
            <a:pathLst>
              <a:path h="10287000" w="4629150">
                <a:moveTo>
                  <a:pt x="0" y="0"/>
                </a:moveTo>
                <a:lnTo>
                  <a:pt x="4629150" y="0"/>
                </a:lnTo>
                <a:lnTo>
                  <a:pt x="4629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66498" y="-247260"/>
            <a:ext cx="4740417" cy="10534260"/>
          </a:xfrm>
          <a:custGeom>
            <a:avLst/>
            <a:gdLst/>
            <a:ahLst/>
            <a:cxnLst/>
            <a:rect r="r" b="b" t="t" l="l"/>
            <a:pathLst>
              <a:path h="10534260" w="4740417">
                <a:moveTo>
                  <a:pt x="0" y="0"/>
                </a:moveTo>
                <a:lnTo>
                  <a:pt x="4740417" y="0"/>
                </a:lnTo>
                <a:lnTo>
                  <a:pt x="4740417" y="10534260"/>
                </a:lnTo>
                <a:lnTo>
                  <a:pt x="0" y="10534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06915" y="0"/>
            <a:ext cx="4740417" cy="10534260"/>
          </a:xfrm>
          <a:custGeom>
            <a:avLst/>
            <a:gdLst/>
            <a:ahLst/>
            <a:cxnLst/>
            <a:rect r="r" b="b" t="t" l="l"/>
            <a:pathLst>
              <a:path h="10534260" w="4740417">
                <a:moveTo>
                  <a:pt x="0" y="0"/>
                </a:moveTo>
                <a:lnTo>
                  <a:pt x="4740417" y="0"/>
                </a:lnTo>
                <a:lnTo>
                  <a:pt x="4740417" y="10534260"/>
                </a:lnTo>
                <a:lnTo>
                  <a:pt x="0" y="10534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47332" y="-247260"/>
            <a:ext cx="4740417" cy="10534260"/>
          </a:xfrm>
          <a:custGeom>
            <a:avLst/>
            <a:gdLst/>
            <a:ahLst/>
            <a:cxnLst/>
            <a:rect r="r" b="b" t="t" l="l"/>
            <a:pathLst>
              <a:path h="10534260" w="4740417">
                <a:moveTo>
                  <a:pt x="0" y="0"/>
                </a:moveTo>
                <a:lnTo>
                  <a:pt x="4740417" y="0"/>
                </a:lnTo>
                <a:lnTo>
                  <a:pt x="4740417" y="10534260"/>
                </a:lnTo>
                <a:lnTo>
                  <a:pt x="0" y="105342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4565" y="1028700"/>
            <a:ext cx="14874517" cy="7945620"/>
            <a:chOff x="0" y="0"/>
            <a:chExt cx="3917568" cy="2092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17568" cy="2092674"/>
            </a:xfrm>
            <a:custGeom>
              <a:avLst/>
              <a:gdLst/>
              <a:ahLst/>
              <a:cxnLst/>
              <a:rect r="r" b="b" t="t" l="l"/>
              <a:pathLst>
                <a:path h="2092674" w="3917568">
                  <a:moveTo>
                    <a:pt x="15614" y="0"/>
                  </a:moveTo>
                  <a:lnTo>
                    <a:pt x="3901954" y="0"/>
                  </a:lnTo>
                  <a:cubicBezTo>
                    <a:pt x="3906095" y="0"/>
                    <a:pt x="3910067" y="1645"/>
                    <a:pt x="3912995" y="4573"/>
                  </a:cubicBezTo>
                  <a:cubicBezTo>
                    <a:pt x="3915923" y="7502"/>
                    <a:pt x="3917568" y="11473"/>
                    <a:pt x="3917568" y="15614"/>
                  </a:cubicBezTo>
                  <a:lnTo>
                    <a:pt x="3917568" y="2077059"/>
                  </a:lnTo>
                  <a:cubicBezTo>
                    <a:pt x="3917568" y="2081200"/>
                    <a:pt x="3915923" y="2085172"/>
                    <a:pt x="3912995" y="2088100"/>
                  </a:cubicBezTo>
                  <a:cubicBezTo>
                    <a:pt x="3910067" y="2091029"/>
                    <a:pt x="3906095" y="2092674"/>
                    <a:pt x="3901954" y="2092674"/>
                  </a:cubicBezTo>
                  <a:lnTo>
                    <a:pt x="15614" y="2092674"/>
                  </a:lnTo>
                  <a:cubicBezTo>
                    <a:pt x="11473" y="2092674"/>
                    <a:pt x="7502" y="2091029"/>
                    <a:pt x="4573" y="2088100"/>
                  </a:cubicBezTo>
                  <a:cubicBezTo>
                    <a:pt x="1645" y="2085172"/>
                    <a:pt x="0" y="2081200"/>
                    <a:pt x="0" y="2077059"/>
                  </a:cubicBezTo>
                  <a:lnTo>
                    <a:pt x="0" y="15614"/>
                  </a:lnTo>
                  <a:cubicBezTo>
                    <a:pt x="0" y="11473"/>
                    <a:pt x="1645" y="7502"/>
                    <a:pt x="4573" y="4573"/>
                  </a:cubicBezTo>
                  <a:cubicBezTo>
                    <a:pt x="7502" y="1645"/>
                    <a:pt x="11473" y="0"/>
                    <a:pt x="15614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3917568" cy="2092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4565" y="1424965"/>
            <a:ext cx="13385071" cy="453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640" indent="-421320" lvl="1">
              <a:lnSpc>
                <a:spcPts val="3902"/>
              </a:lnSpc>
              <a:buFont typeface="Arial"/>
              <a:buChar char="•"/>
            </a:pPr>
            <a:r>
              <a:rPr lang="en-US" b="true" sz="3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DISTANCE IS NEEDED TO CALCULATE RIDE FARE AND MATCH NEARBY RIDERS</a:t>
            </a:r>
          </a:p>
          <a:p>
            <a:pPr algn="l" marL="842640" indent="-421320" lvl="1">
              <a:lnSpc>
                <a:spcPts val="3902"/>
              </a:lnSpc>
              <a:buFont typeface="Arial"/>
              <a:buChar char="•"/>
            </a:pPr>
            <a:r>
              <a:rPr lang="en-US" b="true" sz="3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 use GPS coordinates (latitude &amp; longitude)</a:t>
            </a:r>
          </a:p>
          <a:p>
            <a:pPr algn="l" marL="842640" indent="-421320" lvl="1">
              <a:lnSpc>
                <a:spcPts val="3902"/>
              </a:lnSpc>
              <a:buFont typeface="Arial"/>
              <a:buChar char="•"/>
            </a:pPr>
            <a:r>
              <a:rPr lang="en-US" b="true" sz="3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Each location is represented as a point on the Earth</a:t>
            </a:r>
          </a:p>
          <a:p>
            <a:pPr algn="l" marL="842640" indent="-421320" lvl="1">
              <a:lnSpc>
                <a:spcPts val="3902"/>
              </a:lnSpc>
              <a:buFont typeface="Arial"/>
              <a:buChar char="•"/>
            </a:pPr>
            <a:r>
              <a:rPr lang="en-US" b="true" sz="3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Earth is round, so straight-line distance is not accurate</a:t>
            </a:r>
          </a:p>
          <a:p>
            <a:pPr algn="l" marL="842640" indent="-421320" lvl="1">
              <a:lnSpc>
                <a:spcPts val="3902"/>
              </a:lnSpc>
              <a:buFont typeface="Arial"/>
              <a:buChar char="•"/>
            </a:pPr>
            <a:r>
              <a:rPr lang="en-US" b="true" sz="3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Therefore, we use geographical distance calculation</a:t>
            </a:r>
          </a:p>
          <a:p>
            <a:pPr algn="l">
              <a:lnSpc>
                <a:spcPts val="390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015675" y="5941876"/>
            <a:ext cx="13513407" cy="2741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b="true" sz="515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 USED:</a:t>
            </a:r>
          </a:p>
          <a:p>
            <a:pPr algn="ctr" marL="1112390" indent="-556195" lvl="1">
              <a:lnSpc>
                <a:spcPts val="5152"/>
              </a:lnSpc>
              <a:buFont typeface="Arial"/>
              <a:buChar char="•"/>
            </a:pPr>
            <a:r>
              <a:rPr lang="en-US" b="true" sz="515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Pickup location (latitude, longitude)</a:t>
            </a:r>
          </a:p>
          <a:p>
            <a:pPr algn="ctr" marL="1112390" indent="-556195" lvl="1">
              <a:lnSpc>
                <a:spcPts val="5152"/>
              </a:lnSpc>
              <a:buFont typeface="Arial"/>
              <a:buChar char="•"/>
            </a:pPr>
            <a:r>
              <a:rPr lang="en-US" b="true" sz="515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Drop-off location (latitude, longitude)</a:t>
            </a:r>
          </a:p>
          <a:p>
            <a:pPr algn="ctr">
              <a:lnSpc>
                <a:spcPts val="515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983042" y="9069388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009650"/>
            <a:ext cx="18288000" cy="5979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HOW DISTANCE IS CALCULATED IN OUR SYSTEM  </a:t>
            </a:r>
          </a:p>
          <a:p>
            <a:pPr algn="l">
              <a:lnSpc>
                <a:spcPts val="5152"/>
              </a:lnSpc>
            </a:pPr>
          </a:p>
          <a:p>
            <a:pPr algn="l" marL="1112391" indent="-556195" lvl="1">
              <a:lnSpc>
                <a:spcPts val="5152"/>
              </a:lnSpc>
              <a:buFont typeface="Arial"/>
              <a:buChar char="•"/>
            </a:pP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Locations are stored in database using PostGIS</a:t>
            </a:r>
          </a:p>
          <a:p>
            <a:pPr algn="l" marL="1112391" indent="-556195" lvl="1">
              <a:lnSpc>
                <a:spcPts val="5152"/>
              </a:lnSpc>
              <a:buFont typeface="Arial"/>
              <a:buChar char="•"/>
            </a:pP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PostGIS automatically calculates distance between two points</a:t>
            </a:r>
          </a:p>
          <a:p>
            <a:pPr algn="l" marL="1112391" indent="-556195" lvl="1">
              <a:lnSpc>
                <a:spcPts val="5152"/>
              </a:lnSpc>
              <a:buFont typeface="Arial"/>
              <a:buChar char="•"/>
            </a:pP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Distance is returned in meters and converted to kilometers</a:t>
            </a:r>
          </a:p>
          <a:p>
            <a:pPr algn="l" marL="1112391" indent="-556195" lvl="1">
              <a:lnSpc>
                <a:spcPts val="5152"/>
              </a:lnSpc>
              <a:buFont typeface="Arial"/>
              <a:buChar char="•"/>
            </a:pP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distance is used for fare calculation</a:t>
            </a:r>
          </a:p>
          <a:p>
            <a:pPr algn="l">
              <a:lnSpc>
                <a:spcPts val="5152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952452" y="7812981"/>
            <a:ext cx="14306848" cy="144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  <a:spcBef>
                <a:spcPct val="0"/>
              </a:spcBef>
            </a:pP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51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OTAL FARE = BASE FARE + (DISTANCE × RATE PER KM)</a:t>
            </a:r>
          </a:p>
          <a:p>
            <a:pPr algn="ctr">
              <a:lnSpc>
                <a:spcPts val="5152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983042" y="9069388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8177248" y="-1254204"/>
            <a:ext cx="1401604" cy="8940792"/>
            <a:chOff x="0" y="0"/>
            <a:chExt cx="256059" cy="16333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6087612" y="583611"/>
            <a:ext cx="1401604" cy="8940792"/>
            <a:chOff x="0" y="0"/>
            <a:chExt cx="256059" cy="1633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8339029" y="2079188"/>
            <a:ext cx="1461757" cy="9324507"/>
            <a:chOff x="0" y="0"/>
            <a:chExt cx="256059" cy="1633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6648037" y="3526677"/>
            <a:ext cx="1609980" cy="10270018"/>
            <a:chOff x="0" y="0"/>
            <a:chExt cx="256059" cy="16333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238186"/>
            <a:ext cx="9000654" cy="1444909"/>
            <a:chOff x="0" y="0"/>
            <a:chExt cx="2370543" cy="3805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0543" cy="380552"/>
            </a:xfrm>
            <a:custGeom>
              <a:avLst/>
              <a:gdLst/>
              <a:ahLst/>
              <a:cxnLst/>
              <a:rect r="r" b="b" t="t" l="l"/>
              <a:pathLst>
                <a:path h="380552" w="2370543">
                  <a:moveTo>
                    <a:pt x="43008" y="0"/>
                  </a:moveTo>
                  <a:lnTo>
                    <a:pt x="2327535" y="0"/>
                  </a:lnTo>
                  <a:cubicBezTo>
                    <a:pt x="2351288" y="0"/>
                    <a:pt x="2370543" y="19255"/>
                    <a:pt x="2370543" y="43008"/>
                  </a:cubicBezTo>
                  <a:lnTo>
                    <a:pt x="2370543" y="337545"/>
                  </a:lnTo>
                  <a:cubicBezTo>
                    <a:pt x="2370543" y="361297"/>
                    <a:pt x="2351288" y="380552"/>
                    <a:pt x="2327535" y="380552"/>
                  </a:cubicBezTo>
                  <a:lnTo>
                    <a:pt x="43008" y="380552"/>
                  </a:lnTo>
                  <a:cubicBezTo>
                    <a:pt x="19255" y="380552"/>
                    <a:pt x="0" y="361297"/>
                    <a:pt x="0" y="337545"/>
                  </a:cubicBezTo>
                  <a:lnTo>
                    <a:pt x="0" y="43008"/>
                  </a:lnTo>
                  <a:cubicBezTo>
                    <a:pt x="0" y="19255"/>
                    <a:pt x="19255" y="0"/>
                    <a:pt x="43008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370543" cy="38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749235" y="6377943"/>
            <a:ext cx="8054876" cy="76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4"/>
              </a:lnSpc>
              <a:spcBef>
                <a:spcPct val="0"/>
              </a:spcBef>
            </a:pPr>
            <a:r>
              <a:rPr lang="en-US" sz="49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ADMIN APPROVAL FOR EVENTS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74393" y="7996196"/>
            <a:ext cx="7854962" cy="147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6"/>
              </a:lnSpc>
              <a:spcBef>
                <a:spcPct val="0"/>
              </a:spcBef>
            </a:pPr>
            <a:r>
              <a:rPr lang="en-US" sz="52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RIDER AND ORGANIZER VERIFICATION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13797" y="4611989"/>
            <a:ext cx="6149345" cy="864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4"/>
              </a:lnSpc>
              <a:spcBef>
                <a:spcPct val="0"/>
              </a:spcBef>
            </a:pPr>
            <a:r>
              <a:rPr lang="en-US" sz="55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PASSWORD HASHING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07654" y="2727738"/>
            <a:ext cx="8371714" cy="22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1"/>
              </a:lnSpc>
            </a:pPr>
            <a:r>
              <a:rPr lang="en-US" sz="54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JWT-BASED AUTHENTICATION</a:t>
            </a:r>
          </a:p>
          <a:p>
            <a:pPr algn="ctr">
              <a:lnSpc>
                <a:spcPts val="5451"/>
              </a:lnSpc>
            </a:pPr>
          </a:p>
          <a:p>
            <a:pPr algn="ctr">
              <a:lnSpc>
                <a:spcPts val="5451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266517" y="590334"/>
            <a:ext cx="7261428" cy="80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7"/>
              </a:lnSpc>
              <a:spcBef>
                <a:spcPct val="0"/>
              </a:spcBef>
            </a:pPr>
            <a:r>
              <a:rPr lang="en-US" b="true" sz="523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 &amp; VERIFICATION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83042" y="9712778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47146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647146" y="-55084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00363" y="2344586"/>
            <a:ext cx="17487273" cy="7469872"/>
            <a:chOff x="0" y="0"/>
            <a:chExt cx="4605702" cy="19673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5701" cy="1967374"/>
            </a:xfrm>
            <a:custGeom>
              <a:avLst/>
              <a:gdLst/>
              <a:ahLst/>
              <a:cxnLst/>
              <a:rect r="r" b="b" t="t" l="l"/>
              <a:pathLst>
                <a:path h="1967374" w="4605701">
                  <a:moveTo>
                    <a:pt x="13282" y="0"/>
                  </a:moveTo>
                  <a:lnTo>
                    <a:pt x="4592420" y="0"/>
                  </a:lnTo>
                  <a:cubicBezTo>
                    <a:pt x="4595942" y="0"/>
                    <a:pt x="4599320" y="1399"/>
                    <a:pt x="4601811" y="3890"/>
                  </a:cubicBezTo>
                  <a:cubicBezTo>
                    <a:pt x="4604302" y="6381"/>
                    <a:pt x="4605701" y="9759"/>
                    <a:pt x="4605701" y="13282"/>
                  </a:cubicBezTo>
                  <a:lnTo>
                    <a:pt x="4605701" y="1954092"/>
                  </a:lnTo>
                  <a:cubicBezTo>
                    <a:pt x="4605701" y="1961427"/>
                    <a:pt x="4599755" y="1967374"/>
                    <a:pt x="4592420" y="1967374"/>
                  </a:cubicBezTo>
                  <a:lnTo>
                    <a:pt x="13282" y="1967374"/>
                  </a:lnTo>
                  <a:cubicBezTo>
                    <a:pt x="5946" y="1967374"/>
                    <a:pt x="0" y="1961427"/>
                    <a:pt x="0" y="1954092"/>
                  </a:cubicBezTo>
                  <a:lnTo>
                    <a:pt x="0" y="13282"/>
                  </a:lnTo>
                  <a:cubicBezTo>
                    <a:pt x="0" y="5946"/>
                    <a:pt x="5946" y="0"/>
                    <a:pt x="13282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4605702" cy="196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72212" y="1288665"/>
            <a:ext cx="6336332" cy="790514"/>
            <a:chOff x="0" y="0"/>
            <a:chExt cx="1668828" cy="208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68828" cy="208201"/>
            </a:xfrm>
            <a:custGeom>
              <a:avLst/>
              <a:gdLst/>
              <a:ahLst/>
              <a:cxnLst/>
              <a:rect r="r" b="b" t="t" l="l"/>
              <a:pathLst>
                <a:path h="208201" w="1668828">
                  <a:moveTo>
                    <a:pt x="61091" y="0"/>
                  </a:moveTo>
                  <a:lnTo>
                    <a:pt x="1607737" y="0"/>
                  </a:lnTo>
                  <a:cubicBezTo>
                    <a:pt x="1641477" y="0"/>
                    <a:pt x="1668828" y="27352"/>
                    <a:pt x="1668828" y="61091"/>
                  </a:cubicBezTo>
                  <a:lnTo>
                    <a:pt x="1668828" y="147110"/>
                  </a:lnTo>
                  <a:cubicBezTo>
                    <a:pt x="1668828" y="180850"/>
                    <a:pt x="1641477" y="208201"/>
                    <a:pt x="1607737" y="208201"/>
                  </a:cubicBezTo>
                  <a:lnTo>
                    <a:pt x="61091" y="208201"/>
                  </a:lnTo>
                  <a:cubicBezTo>
                    <a:pt x="27352" y="208201"/>
                    <a:pt x="0" y="180850"/>
                    <a:pt x="0" y="147110"/>
                  </a:cubicBezTo>
                  <a:lnTo>
                    <a:pt x="0" y="61091"/>
                  </a:lnTo>
                  <a:cubicBezTo>
                    <a:pt x="0" y="27352"/>
                    <a:pt x="27352" y="0"/>
                    <a:pt x="61091" y="0"/>
                  </a:cubicBezTo>
                  <a:close/>
                </a:path>
              </a:pathLst>
            </a:custGeom>
            <a:solidFill>
              <a:srgbClr val="8BDFD5"/>
            </a:solidFill>
            <a:ln w="19050" cap="rnd">
              <a:solidFill>
                <a:srgbClr val="4C7D7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668828" cy="208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1288665"/>
            <a:ext cx="790514" cy="7905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B7B7"/>
            </a:solidFill>
            <a:ln w="19050" cap="sq">
              <a:solidFill>
                <a:srgbClr val="4C7D7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5723115" y="-175825"/>
            <a:ext cx="972223" cy="6201780"/>
            <a:chOff x="0" y="0"/>
            <a:chExt cx="256059" cy="16333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009627" y="1220372"/>
            <a:ext cx="5253090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45078" y="2471040"/>
            <a:ext cx="5269817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Requirements Gathering</a:t>
            </a:r>
          </a:p>
        </p:txBody>
      </p:sp>
      <p:grpSp>
        <p:nvGrpSpPr>
          <p:cNvPr name="Group 20" id="20"/>
          <p:cNvGrpSpPr/>
          <p:nvPr/>
        </p:nvGrpSpPr>
        <p:grpSpPr>
          <a:xfrm rot="-5400000">
            <a:off x="6776605" y="1158348"/>
            <a:ext cx="972223" cy="6201780"/>
            <a:chOff x="0" y="0"/>
            <a:chExt cx="256059" cy="16333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193340" y="3792098"/>
            <a:ext cx="6630408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Design &amp; Architecture</a:t>
            </a:r>
          </a:p>
        </p:txBody>
      </p:sp>
      <p:grpSp>
        <p:nvGrpSpPr>
          <p:cNvPr name="Group 24" id="24"/>
          <p:cNvGrpSpPr/>
          <p:nvPr/>
        </p:nvGrpSpPr>
        <p:grpSpPr>
          <a:xfrm rot="-5400000">
            <a:off x="8068882" y="2449779"/>
            <a:ext cx="972223" cy="6201780"/>
            <a:chOff x="0" y="0"/>
            <a:chExt cx="256059" cy="16333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9609164" y="2936110"/>
            <a:ext cx="1229579" cy="7843450"/>
            <a:chOff x="0" y="0"/>
            <a:chExt cx="256059" cy="16333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059" cy="1633391"/>
            </a:xfrm>
            <a:custGeom>
              <a:avLst/>
              <a:gdLst/>
              <a:ahLst/>
              <a:cxnLst/>
              <a:rect r="r" b="b" t="t" l="l"/>
              <a:pathLst>
                <a:path h="1633391" w="256059">
                  <a:moveTo>
                    <a:pt x="256059" y="0"/>
                  </a:moveTo>
                  <a:lnTo>
                    <a:pt x="256059" y="1519091"/>
                  </a:lnTo>
                  <a:lnTo>
                    <a:pt x="128029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56059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5400000">
            <a:off x="11185935" y="6593920"/>
            <a:ext cx="939898" cy="6201780"/>
            <a:chOff x="0" y="0"/>
            <a:chExt cx="247545" cy="16333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7545" cy="1633391"/>
            </a:xfrm>
            <a:custGeom>
              <a:avLst/>
              <a:gdLst/>
              <a:ahLst/>
              <a:cxnLst/>
              <a:rect r="r" b="b" t="t" l="l"/>
              <a:pathLst>
                <a:path h="1633391" w="247545">
                  <a:moveTo>
                    <a:pt x="247545" y="0"/>
                  </a:moveTo>
                  <a:lnTo>
                    <a:pt x="247545" y="1519091"/>
                  </a:lnTo>
                  <a:lnTo>
                    <a:pt x="123773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47545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47545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340378" y="5278750"/>
            <a:ext cx="8157327" cy="5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b="true" sz="337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 &amp; DATABASE SETUP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179986" y="6587673"/>
            <a:ext cx="8087934" cy="53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b="true" sz="34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&amp; WEB FRONTEND DEVELOPMENT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-591184" y="9456258"/>
            <a:ext cx="23311768" cy="56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376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TESTING &amp; DEPLOYMENT</a:t>
            </a:r>
          </a:p>
        </p:txBody>
      </p:sp>
      <p:grpSp>
        <p:nvGrpSpPr>
          <p:cNvPr name="Group 36" id="36"/>
          <p:cNvGrpSpPr/>
          <p:nvPr/>
        </p:nvGrpSpPr>
        <p:grpSpPr>
          <a:xfrm rot="-5400000">
            <a:off x="11445836" y="5298884"/>
            <a:ext cx="939898" cy="6201780"/>
            <a:chOff x="0" y="0"/>
            <a:chExt cx="247545" cy="16333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7545" cy="1633391"/>
            </a:xfrm>
            <a:custGeom>
              <a:avLst/>
              <a:gdLst/>
              <a:ahLst/>
              <a:cxnLst/>
              <a:rect r="r" b="b" t="t" l="l"/>
              <a:pathLst>
                <a:path h="1633391" w="247545">
                  <a:moveTo>
                    <a:pt x="247545" y="0"/>
                  </a:moveTo>
                  <a:lnTo>
                    <a:pt x="247545" y="1519091"/>
                  </a:lnTo>
                  <a:lnTo>
                    <a:pt x="123773" y="1633391"/>
                  </a:lnTo>
                  <a:lnTo>
                    <a:pt x="0" y="1519091"/>
                  </a:lnTo>
                  <a:lnTo>
                    <a:pt x="0" y="0"/>
                  </a:lnTo>
                  <a:lnTo>
                    <a:pt x="247545" y="0"/>
                  </a:ln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47545" cy="1519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0" y="8206050"/>
            <a:ext cx="23311768" cy="56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376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INTEGRATION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508544" y="9835769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8859" y="1028700"/>
            <a:ext cx="14105302" cy="7541148"/>
            <a:chOff x="0" y="0"/>
            <a:chExt cx="3714977" cy="19861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14977" cy="1986146"/>
            </a:xfrm>
            <a:custGeom>
              <a:avLst/>
              <a:gdLst/>
              <a:ahLst/>
              <a:cxnLst/>
              <a:rect r="r" b="b" t="t" l="l"/>
              <a:pathLst>
                <a:path h="1986146" w="3714977">
                  <a:moveTo>
                    <a:pt x="16466" y="0"/>
                  </a:moveTo>
                  <a:lnTo>
                    <a:pt x="3698511" y="0"/>
                  </a:lnTo>
                  <a:cubicBezTo>
                    <a:pt x="3707605" y="0"/>
                    <a:pt x="3714977" y="7372"/>
                    <a:pt x="3714977" y="16466"/>
                  </a:cubicBezTo>
                  <a:lnTo>
                    <a:pt x="3714977" y="1969680"/>
                  </a:lnTo>
                  <a:cubicBezTo>
                    <a:pt x="3714977" y="1974047"/>
                    <a:pt x="3713242" y="1978235"/>
                    <a:pt x="3710154" y="1981323"/>
                  </a:cubicBezTo>
                  <a:cubicBezTo>
                    <a:pt x="3707066" y="1984411"/>
                    <a:pt x="3702878" y="1986146"/>
                    <a:pt x="3698511" y="1986146"/>
                  </a:cubicBezTo>
                  <a:lnTo>
                    <a:pt x="16466" y="1986146"/>
                  </a:lnTo>
                  <a:cubicBezTo>
                    <a:pt x="12099" y="1986146"/>
                    <a:pt x="7911" y="1984411"/>
                    <a:pt x="4823" y="1981323"/>
                  </a:cubicBezTo>
                  <a:cubicBezTo>
                    <a:pt x="1735" y="1978235"/>
                    <a:pt x="0" y="1974047"/>
                    <a:pt x="0" y="1969680"/>
                  </a:cubicBezTo>
                  <a:lnTo>
                    <a:pt x="0" y="16466"/>
                  </a:lnTo>
                  <a:cubicBezTo>
                    <a:pt x="0" y="12099"/>
                    <a:pt x="1735" y="7911"/>
                    <a:pt x="4823" y="4823"/>
                  </a:cubicBezTo>
                  <a:cubicBezTo>
                    <a:pt x="7911" y="1735"/>
                    <a:pt x="12099" y="0"/>
                    <a:pt x="16466" y="0"/>
                  </a:cubicBezTo>
                  <a:close/>
                </a:path>
              </a:pathLst>
            </a:custGeom>
            <a:solidFill>
              <a:srgbClr val="F5FFFE">
                <a:alpha val="84706"/>
              </a:srgbClr>
            </a:solidFill>
            <a:ln w="19050" cap="rnd">
              <a:solidFill>
                <a:srgbClr val="8BDFD5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3714977" cy="1986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98859" y="1774880"/>
            <a:ext cx="13264098" cy="58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7"/>
              </a:lnSpc>
              <a:spcBef>
                <a:spcPct val="0"/>
              </a:spcBef>
            </a:pP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</a:t>
            </a: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OJECT PROGRESS (CURRENT STATUS)</a:t>
            </a:r>
          </a:p>
          <a:p>
            <a:pPr algn="l" marL="1387668" indent="-693834" lvl="1">
              <a:lnSpc>
                <a:spcPts val="64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FEATURES IMPLEMENTED</a:t>
            </a:r>
          </a:p>
          <a:p>
            <a:pPr algn="l" marL="1387668" indent="-693834" lvl="1">
              <a:lnSpc>
                <a:spcPts val="64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EVENT DISCOVERY WORKING</a:t>
            </a:r>
          </a:p>
          <a:p>
            <a:pPr algn="l" marL="1387668" indent="-693834" lvl="1">
              <a:lnSpc>
                <a:spcPts val="64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 AND AI INTEGRATED</a:t>
            </a:r>
          </a:p>
          <a:p>
            <a:pPr algn="l" marL="1387668" indent="-693834" lvl="1">
              <a:lnSpc>
                <a:spcPts val="64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RIDE-SHARING (SOLVING)</a:t>
            </a:r>
          </a:p>
          <a:p>
            <a:pPr algn="l" marL="1387668" indent="-693834" lvl="1">
              <a:lnSpc>
                <a:spcPts val="64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642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TESTING IN PROGRESS</a:t>
            </a:r>
          </a:p>
          <a:p>
            <a:pPr algn="l">
              <a:lnSpc>
                <a:spcPts val="6427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42788" y="0"/>
            <a:ext cx="1709512" cy="2057400"/>
          </a:xfrm>
          <a:custGeom>
            <a:avLst/>
            <a:gdLst/>
            <a:ahLst/>
            <a:cxnLst/>
            <a:rect r="r" b="b" t="t" l="l"/>
            <a:pathLst>
              <a:path h="2057400" w="1709512">
                <a:moveTo>
                  <a:pt x="0" y="0"/>
                </a:moveTo>
                <a:lnTo>
                  <a:pt x="1709512" y="0"/>
                </a:lnTo>
                <a:lnTo>
                  <a:pt x="170951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651509" y="8880475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195" y="1028700"/>
            <a:ext cx="16751610" cy="6576634"/>
            <a:chOff x="0" y="0"/>
            <a:chExt cx="4411947" cy="1732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1947" cy="1732118"/>
            </a:xfrm>
            <a:custGeom>
              <a:avLst/>
              <a:gdLst/>
              <a:ahLst/>
              <a:cxnLst/>
              <a:rect r="r" b="b" t="t" l="l"/>
              <a:pathLst>
                <a:path h="1732118" w="4411947">
                  <a:moveTo>
                    <a:pt x="9243" y="0"/>
                  </a:moveTo>
                  <a:lnTo>
                    <a:pt x="4402703" y="0"/>
                  </a:lnTo>
                  <a:cubicBezTo>
                    <a:pt x="4407808" y="0"/>
                    <a:pt x="4411947" y="4138"/>
                    <a:pt x="4411947" y="9243"/>
                  </a:cubicBezTo>
                  <a:lnTo>
                    <a:pt x="4411947" y="1722874"/>
                  </a:lnTo>
                  <a:cubicBezTo>
                    <a:pt x="4411947" y="1725326"/>
                    <a:pt x="4410973" y="1727677"/>
                    <a:pt x="4409239" y="1729410"/>
                  </a:cubicBezTo>
                  <a:cubicBezTo>
                    <a:pt x="4407506" y="1731144"/>
                    <a:pt x="4405155" y="1732118"/>
                    <a:pt x="4402703" y="1732118"/>
                  </a:cubicBezTo>
                  <a:lnTo>
                    <a:pt x="9243" y="1732118"/>
                  </a:lnTo>
                  <a:cubicBezTo>
                    <a:pt x="6792" y="1732118"/>
                    <a:pt x="4441" y="1731144"/>
                    <a:pt x="2707" y="1729410"/>
                  </a:cubicBezTo>
                  <a:cubicBezTo>
                    <a:pt x="974" y="1727677"/>
                    <a:pt x="0" y="1725326"/>
                    <a:pt x="0" y="1722874"/>
                  </a:cubicBezTo>
                  <a:lnTo>
                    <a:pt x="0" y="9243"/>
                  </a:lnTo>
                  <a:cubicBezTo>
                    <a:pt x="0" y="6792"/>
                    <a:pt x="974" y="4441"/>
                    <a:pt x="2707" y="2707"/>
                  </a:cubicBezTo>
                  <a:cubicBezTo>
                    <a:pt x="4441" y="974"/>
                    <a:pt x="6792" y="0"/>
                    <a:pt x="9243" y="0"/>
                  </a:cubicBezTo>
                  <a:close/>
                </a:path>
              </a:pathLst>
            </a:custGeom>
            <a:solidFill>
              <a:srgbClr val="8BDFD5">
                <a:alpha val="80000"/>
              </a:srgbClr>
            </a:solidFill>
            <a:ln w="28575" cap="sq">
              <a:solidFill>
                <a:srgbClr val="4C7D77">
                  <a:alpha val="80000"/>
                </a:srgbClr>
              </a:solidFill>
              <a:prstDash val="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411947" cy="173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3286" y="1626771"/>
            <a:ext cx="14892040" cy="579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1"/>
              </a:lnSpc>
            </a:pPr>
          </a:p>
          <a:p>
            <a:pPr algn="l" marL="1591470" indent="-795735" lvl="1">
              <a:lnSpc>
                <a:spcPts val="7371"/>
              </a:lnSpc>
              <a:buFont typeface="Arial"/>
              <a:buChar char="•"/>
            </a:pPr>
            <a:r>
              <a:rPr lang="en-US" sz="73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synchronization</a:t>
            </a:r>
          </a:p>
          <a:p>
            <a:pPr algn="l" marL="1591470" indent="-795735" lvl="1">
              <a:lnSpc>
                <a:spcPts val="7371"/>
              </a:lnSpc>
              <a:spcBef>
                <a:spcPct val="0"/>
              </a:spcBef>
              <a:buFont typeface="Arial"/>
              <a:buChar char="•"/>
            </a:pPr>
            <a:r>
              <a:rPr lang="en-US" sz="73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</a:t>
            </a:r>
            <a:r>
              <a:rPr lang="en-US" sz="73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OSPATIAL QUERY OPTIMIZATION</a:t>
            </a:r>
          </a:p>
          <a:p>
            <a:pPr algn="l" marL="1591470" indent="-795735" lvl="1">
              <a:lnSpc>
                <a:spcPts val="7371"/>
              </a:lnSpc>
              <a:spcBef>
                <a:spcPct val="0"/>
              </a:spcBef>
              <a:buFont typeface="Arial"/>
              <a:buChar char="•"/>
            </a:pPr>
            <a:r>
              <a:rPr lang="en-US" sz="73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RESPONSE HANDLING</a:t>
            </a:r>
          </a:p>
          <a:p>
            <a:pPr algn="l" marL="1591470" indent="-795735" lvl="1">
              <a:lnSpc>
                <a:spcPts val="7371"/>
              </a:lnSpc>
              <a:spcBef>
                <a:spcPct val="0"/>
              </a:spcBef>
              <a:buFont typeface="Arial"/>
              <a:buChar char="•"/>
            </a:pPr>
            <a:r>
              <a:rPr lang="en-US" sz="73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IMAGE UPLOAD MANAGEMENT</a:t>
            </a:r>
          </a:p>
          <a:p>
            <a:pPr algn="l">
              <a:lnSpc>
                <a:spcPts val="7371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-3605139" y="1073991"/>
            <a:ext cx="18760466" cy="110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1"/>
              </a:lnSpc>
              <a:spcBef>
                <a:spcPct val="0"/>
              </a:spcBef>
            </a:pPr>
            <a:r>
              <a:rPr lang="en-US" b="true" sz="715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CHALLANGES FACED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481109" y="122152"/>
            <a:ext cx="2038696" cy="2057400"/>
          </a:xfrm>
          <a:custGeom>
            <a:avLst/>
            <a:gdLst/>
            <a:ahLst/>
            <a:cxnLst/>
            <a:rect r="r" b="b" t="t" l="l"/>
            <a:pathLst>
              <a:path h="2057400" w="2038696">
                <a:moveTo>
                  <a:pt x="0" y="0"/>
                </a:moveTo>
                <a:lnTo>
                  <a:pt x="2038696" y="0"/>
                </a:lnTo>
                <a:lnTo>
                  <a:pt x="203869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983042" y="8880475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886447"/>
            <a:ext cx="18288000" cy="323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49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SOLVES REAL-WORLD PROBLEMS USING MODERN TECHNOLOGIES, OFFERING A SECURE AND SCALABLE SYSTEM. ADAPTED TO NEPAL’S CONTEXT, IT CONSIDERS LOCAL NEEDS AND INFRASTRUCTURE, MAKING IT PRACTICAL, RELIABLE, AND WELL-SUITED FOR EFFECTIVE REAL-WORLD IMPLEMENTATION.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0686" y="-5769"/>
            <a:ext cx="7774354" cy="170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6"/>
              </a:lnSpc>
              <a:spcBef>
                <a:spcPct val="0"/>
              </a:spcBef>
            </a:pPr>
            <a:r>
              <a:rPr lang="en-US" b="true" sz="1110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9069388"/>
            <a:ext cx="32191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40048" y="3935389"/>
            <a:ext cx="8586349" cy="6847613"/>
          </a:xfrm>
          <a:custGeom>
            <a:avLst/>
            <a:gdLst/>
            <a:ahLst/>
            <a:cxnLst/>
            <a:rect r="r" b="b" t="t" l="l"/>
            <a:pathLst>
              <a:path h="6847613" w="8586349">
                <a:moveTo>
                  <a:pt x="0" y="0"/>
                </a:moveTo>
                <a:lnTo>
                  <a:pt x="8586349" y="0"/>
                </a:lnTo>
                <a:lnTo>
                  <a:pt x="8586349" y="6847613"/>
                </a:lnTo>
                <a:lnTo>
                  <a:pt x="0" y="6847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647146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55962" y="-1028700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0" y="0"/>
                </a:moveTo>
                <a:lnTo>
                  <a:pt x="2820508" y="0"/>
                </a:lnTo>
                <a:lnTo>
                  <a:pt x="2820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647146" y="5531404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8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8" y="4114800"/>
                </a:lnTo>
                <a:lnTo>
                  <a:pt x="2820508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913663" y="7844291"/>
            <a:ext cx="2820508" cy="4114800"/>
          </a:xfrm>
          <a:custGeom>
            <a:avLst/>
            <a:gdLst/>
            <a:ahLst/>
            <a:cxnLst/>
            <a:rect r="r" b="b" t="t" l="l"/>
            <a:pathLst>
              <a:path h="4114800" w="2820508">
                <a:moveTo>
                  <a:pt x="2820509" y="0"/>
                </a:moveTo>
                <a:lnTo>
                  <a:pt x="0" y="0"/>
                </a:lnTo>
                <a:lnTo>
                  <a:pt x="0" y="4114800"/>
                </a:lnTo>
                <a:lnTo>
                  <a:pt x="2820509" y="4114800"/>
                </a:lnTo>
                <a:lnTo>
                  <a:pt x="2820509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66216" y="3760214"/>
            <a:ext cx="15036702" cy="248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4"/>
              </a:lnSpc>
            </a:pPr>
            <a:r>
              <a:rPr lang="en-US" sz="1440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E6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DAGlDjeN9ng</dc:identifier>
  <dcterms:modified xsi:type="dcterms:W3CDTF">2011-08-01T06:04:30Z</dcterms:modified>
  <cp:revision>1</cp:revision>
  <dc:title>Light Green Professional Thesis Defense Presentation</dc:title>
</cp:coreProperties>
</file>